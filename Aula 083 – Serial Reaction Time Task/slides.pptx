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652" r:id="rId2"/>
    <p:sldId id="1096" r:id="rId3"/>
    <p:sldId id="1095" r:id="rId4"/>
    <p:sldId id="1097" r:id="rId5"/>
    <p:sldId id="642" r:id="rId6"/>
  </p:sldIdLst>
  <p:sldSz cx="12190413" cy="6859588"/>
  <p:notesSz cx="6858000" cy="9144000"/>
  <p:defaultTextStyle>
    <a:defPPr>
      <a:defRPr lang="pt-BR"/>
    </a:defPPr>
    <a:lvl1pPr marL="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B7"/>
    <a:srgbClr val="FF3300"/>
    <a:srgbClr val="2CAE16"/>
    <a:srgbClr val="008000"/>
    <a:srgbClr val="FF00FF"/>
    <a:srgbClr val="660066"/>
    <a:srgbClr val="FF3399"/>
    <a:srgbClr val="FFC081"/>
    <a:srgbClr val="FFCD9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9" autoAdjust="0"/>
    <p:restoredTop sz="92137" autoAdjust="0"/>
  </p:normalViewPr>
  <p:slideViewPr>
    <p:cSldViewPr>
      <p:cViewPr varScale="1">
        <p:scale>
          <a:sx n="57" d="100"/>
          <a:sy n="57" d="100"/>
        </p:scale>
        <p:origin x="1170" y="48"/>
      </p:cViewPr>
      <p:guideLst>
        <p:guide orient="horz" pos="2161"/>
        <p:guide pos="384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E1EB-9B3A-4F88-8981-57CAE7D022DC}" type="datetimeFigureOut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2B78-184E-410B-8EB3-A78D003ACCE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32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A2CC-C870-4222-8082-713A11CF2FEE}" type="datetimeFigureOut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EBA5-ED71-45A1-8B2B-DE2576D070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07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73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425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184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832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9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281" y="2130922"/>
            <a:ext cx="10361851" cy="147036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C2E5-5F2E-41F9-A0FB-F6B6A2395976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D261-2523-45FF-8ED1-0BCB69162581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2959" y="2907388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078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7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36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315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393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472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5515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630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026C-6155-4932-A819-C07131495285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D34F-8B2C-45E7-98CE-F7ED66FA1B80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535471"/>
            <a:ext cx="5386216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2565" y="1535471"/>
            <a:ext cx="5388332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2565" y="2175380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FB13-4A75-42B7-90FC-4FF930268F62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C7D3-B9EE-4353-80CB-4E628B094EA8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0A78-9207-4F09-A348-718AD96E4D93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25" y="273115"/>
            <a:ext cx="4010562" cy="11623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525" y="1435437"/>
            <a:ext cx="4010562" cy="46921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F061-2354-4E7B-9294-11A163B323B2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07879" indent="0">
              <a:buNone/>
              <a:defRPr sz="3100"/>
            </a:lvl2pPr>
            <a:lvl3pPr marL="1015760" indent="0">
              <a:buNone/>
              <a:defRPr sz="2700"/>
            </a:lvl3pPr>
            <a:lvl4pPr marL="1523639" indent="0">
              <a:buNone/>
              <a:defRPr sz="2300"/>
            </a:lvl4pPr>
            <a:lvl5pPr marL="2031520" indent="0">
              <a:buNone/>
              <a:defRPr sz="2300"/>
            </a:lvl5pPr>
            <a:lvl6pPr marL="2539399" indent="0">
              <a:buNone/>
              <a:defRPr sz="2300"/>
            </a:lvl6pPr>
            <a:lvl7pPr marL="3047280" indent="0">
              <a:buNone/>
              <a:defRPr sz="2300"/>
            </a:lvl7pPr>
            <a:lvl8pPr marL="3555159" indent="0">
              <a:buNone/>
              <a:defRPr sz="2300"/>
            </a:lvl8pPr>
            <a:lvl9pPr marL="4063040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7B3E-F030-42B0-83BA-8AE4FBEC2267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F0EE-6503-4E8F-A013-CFD41AFB6EA6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8051" y="274705"/>
            <a:ext cx="2742843" cy="585288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521" y="274705"/>
            <a:ext cx="8025355" cy="585288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AD86-4BE5-4079-9D68-EB0FF3EB9B8E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01576" tIns="50788" rIns="101576" bIns="50788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</p:spPr>
        <p:txBody>
          <a:bodyPr vert="horz" lIns="101576" tIns="50788" rIns="101576" bIns="50788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A825-296A-4964-85BE-4EAB02630B2E}" type="datetime1">
              <a:rPr lang="pt-BR" smtClean="0"/>
              <a:pPr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059" y="6357824"/>
            <a:ext cx="3860297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1576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10" indent="-380910" algn="l" defTabSz="101576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06" indent="-317425" algn="l" defTabSz="1015760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97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7580" indent="-253940" algn="l" defTabSz="101576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460" indent="-253940" algn="l" defTabSz="101576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34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22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1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1698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7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76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63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52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39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28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15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04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" y="1"/>
            <a:ext cx="205201" cy="41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76" tIns="50788" rIns="101576" bIns="50788" anchor="ctr">
            <a:prstTxWarp prst="textNoShape">
              <a:avLst/>
            </a:prstTxWarp>
            <a:spAutoFit/>
          </a:bodyPr>
          <a:lstStyle/>
          <a:p>
            <a:endParaRPr lang="pt-BR" dirty="0"/>
          </a:p>
        </p:txBody>
      </p:sp>
      <p:sp>
        <p:nvSpPr>
          <p:cNvPr id="15" name="Elipse 5"/>
          <p:cNvSpPr/>
          <p:nvPr/>
        </p:nvSpPr>
        <p:spPr>
          <a:xfrm>
            <a:off x="11142720" y="6359400"/>
            <a:ext cx="570960" cy="42840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1" y="0"/>
            <a:ext cx="12218211" cy="6859588"/>
          </a:xfrm>
          <a:prstGeom prst="rect">
            <a:avLst/>
          </a:prstGeom>
        </p:spPr>
      </p:pic>
      <p:sp>
        <p:nvSpPr>
          <p:cNvPr id="14" name="PlaceHolder 1"/>
          <p:cNvSpPr txBox="1">
            <a:spLocks/>
          </p:cNvSpPr>
          <p:nvPr/>
        </p:nvSpPr>
        <p:spPr>
          <a:xfrm rot="21346946">
            <a:off x="249410" y="2091391"/>
            <a:ext cx="8058167" cy="3855620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Tarefa de tempo de reação serial</a:t>
            </a: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 rot="21346946">
            <a:off x="338944" y="884362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AULA 083</a:t>
            </a: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4B073D56-F7CC-4F17-A470-C2ED89EDABB1}"/>
              </a:ext>
            </a:extLst>
          </p:cNvPr>
          <p:cNvSpPr txBox="1">
            <a:spLocks/>
          </p:cNvSpPr>
          <p:nvPr/>
        </p:nvSpPr>
        <p:spPr>
          <a:xfrm rot="21346946">
            <a:off x="867889" y="4562204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Aprendizagem implícita</a:t>
            </a:r>
          </a:p>
        </p:txBody>
      </p:sp>
    </p:spTree>
    <p:extLst>
      <p:ext uri="{BB962C8B-B14F-4D97-AF65-F5344CB8AC3E}">
        <p14:creationId xmlns:p14="http://schemas.microsoft.com/office/powerpoint/2010/main" val="40963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2</a:t>
            </a:fld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4489DE-8245-4E42-9A3C-E7274AD665C1}"/>
              </a:ext>
            </a:extLst>
          </p:cNvPr>
          <p:cNvGrpSpPr/>
          <p:nvPr/>
        </p:nvGrpSpPr>
        <p:grpSpPr>
          <a:xfrm>
            <a:off x="190550" y="6143881"/>
            <a:ext cx="7776864" cy="670289"/>
            <a:chOff x="190550" y="6143881"/>
            <a:chExt cx="7776864" cy="670289"/>
          </a:xfrm>
        </p:grpSpPr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46A1675D-A067-40C7-8DCA-E0EABB0FADC7}"/>
                </a:ext>
              </a:extLst>
            </p:cNvPr>
            <p:cNvCxnSpPr>
              <a:cxnSpLocks/>
            </p:cNvCxnSpPr>
            <p:nvPr/>
          </p:nvCxnSpPr>
          <p:spPr>
            <a:xfrm>
              <a:off x="190550" y="6166098"/>
              <a:ext cx="7776864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2EF55DF0-AFF9-4603-A767-90CDEBDCD7D0}"/>
                </a:ext>
              </a:extLst>
            </p:cNvPr>
            <p:cNvSpPr/>
            <p:nvPr/>
          </p:nvSpPr>
          <p:spPr>
            <a:xfrm>
              <a:off x="2279182" y="6143881"/>
              <a:ext cx="3600000" cy="670289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5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tempo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Espaço Reservado para Conteúdo 2">
                <a:extLst>
                  <a:ext uri="{FF2B5EF4-FFF2-40B4-BE49-F238E27FC236}">
                    <a16:creationId xmlns:a16="http://schemas.microsoft.com/office/drawing/2014/main" id="{6206A541-09BA-4878-9FEC-AFF4213B13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22" y="1053530"/>
                <a:ext cx="11390340" cy="530429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80910" indent="-38091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25306" indent="-317425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3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6970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77758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546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9334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30122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80910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1698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3200" i="1" dirty="0"/>
                  <a:t>Serial </a:t>
                </a:r>
                <a:r>
                  <a:rPr lang="pt-BR" sz="3200" i="1" dirty="0" err="1"/>
                  <a:t>reaction</a:t>
                </a:r>
                <a:r>
                  <a:rPr lang="pt-BR" sz="3200" i="1" dirty="0"/>
                  <a:t> time </a:t>
                </a:r>
                <a:r>
                  <a:rPr lang="pt-BR" sz="3200" i="1" dirty="0" err="1"/>
                  <a:t>task</a:t>
                </a:r>
                <a:endParaRPr lang="pt-BR" sz="3200" i="1" dirty="0"/>
              </a:p>
              <a:p>
                <a:pPr lvl="1"/>
                <a:r>
                  <a:rPr lang="pt-BR" sz="2700" dirty="0"/>
                  <a:t>12 blocos com 70 tentativas cada + 1 bloco inicial de treino </a:t>
                </a:r>
                <a:r>
                  <a:rPr lang="pt-BR" sz="2700"/>
                  <a:t>(63 </a:t>
                </a:r>
                <a:r>
                  <a:rPr lang="pt-BR" sz="2700" dirty="0"/>
                  <a:t>tentativas)</a:t>
                </a:r>
              </a:p>
              <a:p>
                <a:pPr lvl="1"/>
                <a:r>
                  <a:rPr lang="pt-BR" sz="2700" dirty="0">
                    <a:solidFill>
                      <a:schemeClr val="tx1"/>
                    </a:solidFill>
                  </a:rPr>
                  <a:t>Blocos </a:t>
                </a:r>
                <a:r>
                  <a:rPr lang="pt-BR" sz="2700" i="1" dirty="0">
                    <a:solidFill>
                      <a:srgbClr val="002060"/>
                    </a:solidFill>
                  </a:rPr>
                  <a:t>aleatórios</a:t>
                </a:r>
                <a:r>
                  <a:rPr lang="pt-BR" sz="27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pt-BR" sz="27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7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:1, 7, 8, 9, 10</m:t>
                    </m:r>
                  </m:oMath>
                </a14:m>
                <a:r>
                  <a:rPr lang="pt-BR" sz="2700" dirty="0">
                    <a:solidFill>
                      <a:schemeClr val="tx1"/>
                    </a:solidFill>
                  </a:rPr>
                  <a:t>) e </a:t>
                </a:r>
                <a:r>
                  <a:rPr lang="pt-BR" sz="2700" i="1" dirty="0">
                    <a:solidFill>
                      <a:srgbClr val="002060"/>
                    </a:solidFill>
                  </a:rPr>
                  <a:t>sequenciais</a:t>
                </a:r>
                <a:r>
                  <a:rPr lang="pt-BR" sz="2700" dirty="0">
                    <a:solidFill>
                      <a:schemeClr val="tx1"/>
                    </a:solidFill>
                  </a:rPr>
                  <a:t> </a:t>
                </a:r>
                <a:r>
                  <a:rPr lang="pt-BR" sz="2700" dirty="0"/>
                  <a:t>(</a:t>
                </a:r>
                <a14:m>
                  <m:oMath xmlns:m="http://schemas.openxmlformats.org/officeDocument/2006/math">
                    <m:r>
                      <a:rPr lang="pt-BR" sz="27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7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700" b="0" i="1" dirty="0" smtClean="0">
                        <a:latin typeface="Cambria Math" panose="02040503050406030204" pitchFamily="18" charset="0"/>
                      </a:rPr>
                      <m:t>2, 3, 4, 5, 6, 11, 12</m:t>
                    </m:r>
                  </m:oMath>
                </a14:m>
                <a:r>
                  <a:rPr lang="pt-BR" sz="2700" dirty="0"/>
                  <a:t>)</a:t>
                </a:r>
              </a:p>
              <a:p>
                <a:pPr lvl="1"/>
                <a:r>
                  <a:rPr lang="pt-BR" sz="2700" dirty="0"/>
                  <a:t>Bloco sequencial: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4231342</m:t>
                    </m:r>
                  </m:oMath>
                </a14:m>
                <a:r>
                  <a:rPr lang="pt-BR" sz="2700" dirty="0"/>
                  <a:t> (Cohen et al., 1990)</a:t>
                </a:r>
              </a:p>
              <a:p>
                <a:pPr lvl="1"/>
                <a:endParaRPr lang="pt-BR" sz="2800" i="1" dirty="0"/>
              </a:p>
            </p:txBody>
          </p:sp>
        </mc:Choice>
        <mc:Fallback>
          <p:sp>
            <p:nvSpPr>
              <p:cNvPr id="31" name="Espaço Reservado para Conteúdo 2">
                <a:extLst>
                  <a:ext uri="{FF2B5EF4-FFF2-40B4-BE49-F238E27FC236}">
                    <a16:creationId xmlns:a16="http://schemas.microsoft.com/office/drawing/2014/main" id="{6206A541-09BA-4878-9FEC-AFF4213B1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2" y="1053530"/>
                <a:ext cx="11390340" cy="5304294"/>
              </a:xfrm>
              <a:prstGeom prst="rect">
                <a:avLst/>
              </a:prstGeom>
              <a:blipFill>
                <a:blip r:embed="rId3"/>
                <a:stretch>
                  <a:fillRect l="-1231" t="-1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tângulo 18">
            <a:extLst>
              <a:ext uri="{FF2B5EF4-FFF2-40B4-BE49-F238E27FC236}">
                <a16:creationId xmlns:a16="http://schemas.microsoft.com/office/drawing/2014/main" id="{E7315B44-15D1-4140-B4A6-3B7EB131A6D9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tempo de reação serial </a:t>
            </a:r>
            <a:r>
              <a:rPr lang="pt-BR" sz="2800" dirty="0"/>
              <a:t>(Unsworth &amp; Engle, 2005)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CB11469D-9FC0-4CA4-8E00-7F2BD831002F}"/>
              </a:ext>
            </a:extLst>
          </p:cNvPr>
          <p:cNvGrpSpPr/>
          <p:nvPr/>
        </p:nvGrpSpPr>
        <p:grpSpPr>
          <a:xfrm>
            <a:off x="334566" y="3213770"/>
            <a:ext cx="3600000" cy="2902537"/>
            <a:chOff x="334566" y="2925738"/>
            <a:chExt cx="3600000" cy="2902537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8F0E803F-2B60-4F79-86B8-48D29031A6F6}"/>
                </a:ext>
              </a:extLst>
            </p:cNvPr>
            <p:cNvGrpSpPr/>
            <p:nvPr/>
          </p:nvGrpSpPr>
          <p:grpSpPr>
            <a:xfrm>
              <a:off x="334566" y="2925738"/>
              <a:ext cx="3600000" cy="2902537"/>
              <a:chOff x="334566" y="2925738"/>
              <a:chExt cx="3600000" cy="2902537"/>
            </a:xfrm>
          </p:grpSpPr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D60FC221-F4E5-4B69-84CA-55170D7102E3}"/>
                  </a:ext>
                </a:extLst>
              </p:cNvPr>
              <p:cNvSpPr/>
              <p:nvPr/>
            </p:nvSpPr>
            <p:spPr>
              <a:xfrm>
                <a:off x="334566" y="2925738"/>
                <a:ext cx="3600000" cy="2160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Retângulo 26">
                <a:extLst>
                  <a:ext uri="{FF2B5EF4-FFF2-40B4-BE49-F238E27FC236}">
                    <a16:creationId xmlns:a16="http://schemas.microsoft.com/office/drawing/2014/main" id="{32463FF4-E7F2-4136-A42A-E85363F9AF6F}"/>
                  </a:ext>
                </a:extLst>
              </p:cNvPr>
              <p:cNvSpPr/>
              <p:nvPr/>
            </p:nvSpPr>
            <p:spPr>
              <a:xfrm>
                <a:off x="334566" y="5157986"/>
                <a:ext cx="3600000" cy="670289"/>
              </a:xfrm>
              <a:prstGeom prst="rect">
                <a:avLst/>
              </a:prstGeom>
              <a:no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35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500 </a:t>
                </a:r>
                <a:r>
                  <a:rPr lang="pt-BR" sz="35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ms</a:t>
                </a:r>
                <a:endParaRPr lang="pt-BR" sz="35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FBE27E27-F07A-4765-B115-911C5EA7636B}"/>
                </a:ext>
              </a:extLst>
            </p:cNvPr>
            <p:cNvSpPr/>
            <p:nvPr/>
          </p:nvSpPr>
          <p:spPr>
            <a:xfrm>
              <a:off x="694606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FE708203-9183-47F9-BBCE-A53617594ACE}"/>
                </a:ext>
              </a:extLst>
            </p:cNvPr>
            <p:cNvSpPr/>
            <p:nvPr/>
          </p:nvSpPr>
          <p:spPr>
            <a:xfrm>
              <a:off x="1486694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8A534680-8019-481A-BA67-4D75B791EB67}"/>
                </a:ext>
              </a:extLst>
            </p:cNvPr>
            <p:cNvSpPr/>
            <p:nvPr/>
          </p:nvSpPr>
          <p:spPr>
            <a:xfrm>
              <a:off x="2242838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8BFBA6E2-8140-4EDE-9274-E1B3CB8A1FCE}"/>
                </a:ext>
              </a:extLst>
            </p:cNvPr>
            <p:cNvSpPr/>
            <p:nvPr/>
          </p:nvSpPr>
          <p:spPr>
            <a:xfrm>
              <a:off x="2998862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6F4D798-DC51-42D1-9A7F-7753B6501BC3}"/>
              </a:ext>
            </a:extLst>
          </p:cNvPr>
          <p:cNvGrpSpPr/>
          <p:nvPr/>
        </p:nvGrpSpPr>
        <p:grpSpPr>
          <a:xfrm>
            <a:off x="4295006" y="3213770"/>
            <a:ext cx="3600400" cy="2902537"/>
            <a:chOff x="4295006" y="2925738"/>
            <a:chExt cx="3600400" cy="2902537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7EB3D2AE-E113-423C-ACB2-54C2B5790AEB}"/>
                </a:ext>
              </a:extLst>
            </p:cNvPr>
            <p:cNvGrpSpPr/>
            <p:nvPr/>
          </p:nvGrpSpPr>
          <p:grpSpPr>
            <a:xfrm>
              <a:off x="4295006" y="2925738"/>
              <a:ext cx="3600400" cy="2902537"/>
              <a:chOff x="4295006" y="2925738"/>
              <a:chExt cx="3600400" cy="2902537"/>
            </a:xfrm>
          </p:grpSpPr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A02692B4-BF90-47DE-AA33-7FAD45D6F4C3}"/>
                  </a:ext>
                </a:extLst>
              </p:cNvPr>
              <p:cNvSpPr/>
              <p:nvPr/>
            </p:nvSpPr>
            <p:spPr>
              <a:xfrm>
                <a:off x="4295006" y="2925738"/>
                <a:ext cx="3600000" cy="2160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4DBFAEE8-DAB7-41B6-B47F-CFCE1E283C9F}"/>
                  </a:ext>
                </a:extLst>
              </p:cNvPr>
              <p:cNvSpPr/>
              <p:nvPr/>
            </p:nvSpPr>
            <p:spPr>
              <a:xfrm>
                <a:off x="4295406" y="5157986"/>
                <a:ext cx="3600000" cy="670289"/>
              </a:xfrm>
              <a:prstGeom prst="rect">
                <a:avLst/>
              </a:prstGeom>
              <a:no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35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Até a resposta</a:t>
                </a:r>
              </a:p>
            </p:txBody>
          </p:sp>
        </p:grp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AE9440A7-19DF-4B43-80BF-265B9DAC99B5}"/>
                </a:ext>
              </a:extLst>
            </p:cNvPr>
            <p:cNvSpPr/>
            <p:nvPr/>
          </p:nvSpPr>
          <p:spPr>
            <a:xfrm>
              <a:off x="4727054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C31B1066-9B23-435D-89F6-68055ECA4500}"/>
                </a:ext>
              </a:extLst>
            </p:cNvPr>
            <p:cNvSpPr/>
            <p:nvPr/>
          </p:nvSpPr>
          <p:spPr>
            <a:xfrm>
              <a:off x="5519142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7F70E418-6720-4E8F-AAA1-474757FBE363}"/>
                </a:ext>
              </a:extLst>
            </p:cNvPr>
            <p:cNvSpPr/>
            <p:nvPr/>
          </p:nvSpPr>
          <p:spPr>
            <a:xfrm>
              <a:off x="6275286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0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4D35CD31-D613-484A-9B84-5EE91FDC282E}"/>
                </a:ext>
              </a:extLst>
            </p:cNvPr>
            <p:cNvSpPr/>
            <p:nvPr/>
          </p:nvSpPr>
          <p:spPr>
            <a:xfrm>
              <a:off x="7031310" y="3753890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B904581-FA48-4D7D-87DF-4C556713C965}"/>
              </a:ext>
            </a:extLst>
          </p:cNvPr>
          <p:cNvGrpSpPr/>
          <p:nvPr/>
        </p:nvGrpSpPr>
        <p:grpSpPr>
          <a:xfrm>
            <a:off x="8255846" y="3213770"/>
            <a:ext cx="3600000" cy="2160000"/>
            <a:chOff x="8255846" y="2925738"/>
            <a:chExt cx="3600000" cy="2160000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310917D0-9E90-4101-8764-303F80831EA4}"/>
                </a:ext>
              </a:extLst>
            </p:cNvPr>
            <p:cNvGrpSpPr/>
            <p:nvPr/>
          </p:nvGrpSpPr>
          <p:grpSpPr>
            <a:xfrm>
              <a:off x="8255846" y="2925738"/>
              <a:ext cx="3600000" cy="2160000"/>
              <a:chOff x="8255846" y="2925738"/>
              <a:chExt cx="3600000" cy="2160000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6F30793E-EBEA-4FD4-AEA8-5DCC7FC552DC}"/>
                  </a:ext>
                </a:extLst>
              </p:cNvPr>
              <p:cNvSpPr/>
              <p:nvPr/>
            </p:nvSpPr>
            <p:spPr>
              <a:xfrm>
                <a:off x="8255846" y="2925738"/>
                <a:ext cx="3600000" cy="2160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ADEBE958-2C8F-489F-BA0D-A001F982616F}"/>
                  </a:ext>
                </a:extLst>
              </p:cNvPr>
              <p:cNvSpPr/>
              <p:nvPr/>
            </p:nvSpPr>
            <p:spPr>
              <a:xfrm>
                <a:off x="8687494" y="3753890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800" dirty="0">
                    <a:solidFill>
                      <a:schemeClr val="bg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E7E34FE6-FA55-4E20-8388-9188E09E4854}"/>
                  </a:ext>
                </a:extLst>
              </p:cNvPr>
              <p:cNvSpPr/>
              <p:nvPr/>
            </p:nvSpPr>
            <p:spPr>
              <a:xfrm>
                <a:off x="9479582" y="3753890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800" dirty="0">
                    <a:solidFill>
                      <a:schemeClr val="bg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03844152-F985-4B56-93BB-880F5F7C9B92}"/>
                  </a:ext>
                </a:extLst>
              </p:cNvPr>
              <p:cNvSpPr/>
              <p:nvPr/>
            </p:nvSpPr>
            <p:spPr>
              <a:xfrm>
                <a:off x="10235726" y="3753890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800" dirty="0">
                    <a:solidFill>
                      <a:schemeClr val="bg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3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0649509C-ECEE-45E5-BFDA-9623F51F798C}"/>
                  </a:ext>
                </a:extLst>
              </p:cNvPr>
              <p:cNvSpPr/>
              <p:nvPr/>
            </p:nvSpPr>
            <p:spPr>
              <a:xfrm>
                <a:off x="10991750" y="3753890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800" dirty="0">
                    <a:solidFill>
                      <a:schemeClr val="bg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4</a:t>
                </a:r>
              </a:p>
            </p:txBody>
          </p:sp>
        </p:grp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7596A77C-DA91-4DC1-B805-0AB92C7478A4}"/>
                </a:ext>
              </a:extLst>
            </p:cNvPr>
            <p:cNvSpPr/>
            <p:nvPr/>
          </p:nvSpPr>
          <p:spPr>
            <a:xfrm>
              <a:off x="8687494" y="4365898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solidFill>
                    <a:schemeClr val="bg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35C08112-094E-4E52-870C-1F67782323C4}"/>
                </a:ext>
              </a:extLst>
            </p:cNvPr>
            <p:cNvSpPr/>
            <p:nvPr/>
          </p:nvSpPr>
          <p:spPr>
            <a:xfrm>
              <a:off x="9479582" y="4365898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solidFill>
                    <a:schemeClr val="bg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</a:t>
              </a:r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B7404B59-F45A-47AF-B39E-25D33690879B}"/>
                </a:ext>
              </a:extLst>
            </p:cNvPr>
            <p:cNvSpPr/>
            <p:nvPr/>
          </p:nvSpPr>
          <p:spPr>
            <a:xfrm>
              <a:off x="10235726" y="4365898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solidFill>
                    <a:schemeClr val="bg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J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BC92F630-D518-4BFB-8DBF-1B0BC2EB1514}"/>
                </a:ext>
              </a:extLst>
            </p:cNvPr>
            <p:cNvSpPr/>
            <p:nvPr/>
          </p:nvSpPr>
          <p:spPr>
            <a:xfrm>
              <a:off x="10991750" y="4365898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solidFill>
                    <a:schemeClr val="bg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766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2A2042E-C49B-4B5F-9364-FC3D649CB76A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tempo de reação serial </a:t>
            </a:r>
            <a:r>
              <a:rPr lang="pt-BR" sz="2800" dirty="0"/>
              <a:t>(Unsworth &amp; Engle, 2005)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AF26D55-B284-4FE8-8853-95AF22B4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06" y="1053530"/>
            <a:ext cx="10801200" cy="57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3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2A2042E-C49B-4B5F-9364-FC3D649CB76A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tempo de reação serial: meu desempenho</a:t>
            </a:r>
            <a:endParaRPr lang="pt-BR" sz="28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6C280E-1D96-4004-8828-4D05071131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354" y="1129654"/>
            <a:ext cx="9061704" cy="539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5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Referências</a:t>
            </a:r>
            <a:endParaRPr lang="pt-BR" sz="25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221844"/>
            <a:ext cx="11318332" cy="5304294"/>
          </a:xfrm>
        </p:spPr>
        <p:txBody>
          <a:bodyPr>
            <a:normAutofit fontScale="92500" lnSpcReduction="20000"/>
          </a:bodyPr>
          <a:lstStyle/>
          <a:p>
            <a:pPr marL="711200" indent="-711200">
              <a:buNone/>
            </a:pPr>
            <a:r>
              <a:rPr lang="en-US" dirty="0"/>
              <a:t>Cohen, A., Ivry, R., &amp; </a:t>
            </a:r>
            <a:r>
              <a:rPr lang="en-US" dirty="0" err="1"/>
              <a:t>Keele</a:t>
            </a:r>
            <a:r>
              <a:rPr lang="en-US" dirty="0"/>
              <a:t>, S. (1990). Attention and structure in sequence learning. </a:t>
            </a:r>
            <a:r>
              <a:rPr lang="en-US" i="1" dirty="0"/>
              <a:t>Journal of Experimental Psychology: Learning, Memory, &amp; Cognition</a:t>
            </a:r>
            <a:r>
              <a:rPr lang="en-US" dirty="0"/>
              <a:t>, </a:t>
            </a:r>
            <a:r>
              <a:rPr lang="en-US" i="1" dirty="0"/>
              <a:t>16</a:t>
            </a:r>
            <a:r>
              <a:rPr lang="en-US" dirty="0"/>
              <a:t>(1), 17–30. https://doi.org/10.1037/0278-7393.16.1.17</a:t>
            </a:r>
          </a:p>
          <a:p>
            <a:pPr marL="711200" indent="-711200">
              <a:buNone/>
            </a:pPr>
            <a:r>
              <a:rPr lang="en-US" dirty="0"/>
              <a:t>Nissen, M. J., &amp; </a:t>
            </a:r>
            <a:r>
              <a:rPr lang="en-US" dirty="0" err="1"/>
              <a:t>Bullemer</a:t>
            </a:r>
            <a:r>
              <a:rPr lang="en-US" dirty="0"/>
              <a:t>, P. (1987). Attentional requirements of learning: Evidence from performance measures. </a:t>
            </a:r>
            <a:r>
              <a:rPr lang="en-US" i="1" dirty="0"/>
              <a:t>Cognitive Psychology</a:t>
            </a:r>
            <a:r>
              <a:rPr lang="en-US" dirty="0"/>
              <a:t>, </a:t>
            </a:r>
            <a:r>
              <a:rPr lang="en-US" i="1" dirty="0"/>
              <a:t>19</a:t>
            </a:r>
            <a:r>
              <a:rPr lang="en-US" dirty="0"/>
              <a:t>(1), 1–32. https://doi.org/10.1016/0010-0285(87)90002-8</a:t>
            </a:r>
          </a:p>
          <a:p>
            <a:pPr marL="711200" indent="-711200">
              <a:buNone/>
            </a:pPr>
            <a:r>
              <a:rPr lang="en-US" dirty="0"/>
              <a:t>Unsworth, N., &amp; Engle, R. W. (2005). Individual differences in working memory capacity and learning: Evidence from the serial reaction time task. </a:t>
            </a:r>
            <a:r>
              <a:rPr lang="en-US" i="1" dirty="0"/>
              <a:t>Memory &amp; Cognition</a:t>
            </a:r>
            <a:r>
              <a:rPr lang="en-US" dirty="0"/>
              <a:t>, </a:t>
            </a:r>
            <a:r>
              <a:rPr lang="en-US" i="1" dirty="0"/>
              <a:t>33</a:t>
            </a:r>
            <a:r>
              <a:rPr lang="en-US" dirty="0"/>
              <a:t>(2), 213–220. https://doi.org/10.3758/bf03195310</a:t>
            </a:r>
          </a:p>
        </p:txBody>
      </p:sp>
    </p:spTree>
    <p:extLst>
      <p:ext uri="{BB962C8B-B14F-4D97-AF65-F5344CB8AC3E}">
        <p14:creationId xmlns:p14="http://schemas.microsoft.com/office/powerpoint/2010/main" val="642079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49159</TotalTime>
  <Words>267</Words>
  <Application>Microsoft Office PowerPoint</Application>
  <PresentationFormat>Personalizar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Bangers</vt:lpstr>
      <vt:lpstr>Calibri</vt:lpstr>
      <vt:lpstr>Cambria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Lima</dc:creator>
  <cp:lastModifiedBy>Marcos Lima</cp:lastModifiedBy>
  <cp:revision>1126</cp:revision>
  <dcterms:created xsi:type="dcterms:W3CDTF">2016-11-14T13:56:39Z</dcterms:created>
  <dcterms:modified xsi:type="dcterms:W3CDTF">2026-10-15T19:34:47Z</dcterms:modified>
</cp:coreProperties>
</file>