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652" r:id="rId2"/>
    <p:sldId id="1096" r:id="rId3"/>
  </p:sldIdLst>
  <p:sldSz cx="12190413" cy="6859588"/>
  <p:notesSz cx="6858000" cy="9144000"/>
  <p:defaultTextStyle>
    <a:defPPr>
      <a:defRPr lang="pt-BR"/>
    </a:defPPr>
    <a:lvl1pPr marL="0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07879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15760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23639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31520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39399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47280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555159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063040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DEB7"/>
    <a:srgbClr val="FF3300"/>
    <a:srgbClr val="2CAE16"/>
    <a:srgbClr val="008000"/>
    <a:srgbClr val="FF00FF"/>
    <a:srgbClr val="660066"/>
    <a:srgbClr val="FF3399"/>
    <a:srgbClr val="FFC081"/>
    <a:srgbClr val="FFCD9B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49" autoAdjust="0"/>
    <p:restoredTop sz="92137" autoAdjust="0"/>
  </p:normalViewPr>
  <p:slideViewPr>
    <p:cSldViewPr>
      <p:cViewPr>
        <p:scale>
          <a:sx n="50" d="100"/>
          <a:sy n="50" d="100"/>
        </p:scale>
        <p:origin x="522" y="210"/>
      </p:cViewPr>
      <p:guideLst>
        <p:guide orient="horz" pos="2161"/>
        <p:guide pos="3840"/>
      </p:guideLst>
    </p:cSldViewPr>
  </p:slideViewPr>
  <p:outlineViewPr>
    <p:cViewPr>
      <p:scale>
        <a:sx n="20" d="100"/>
        <a:sy n="20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892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1BE1EB-9B3A-4F88-8981-57CAE7D022DC}" type="datetimeFigureOut">
              <a:rPr lang="pt-BR" smtClean="0"/>
              <a:pPr/>
              <a:t>15/10/2026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F2B78-184E-410B-8EB3-A78D003ACCE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93240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3CA2CC-C870-4222-8082-713A11CF2FEE}" type="datetimeFigureOut">
              <a:rPr lang="pt-BR" smtClean="0"/>
              <a:pPr/>
              <a:t>15/10/2026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40EBA5-ED71-45A1-8B2B-DE2576D07047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7070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507879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1015760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523639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2031520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539399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47280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55159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63040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40EBA5-ED71-45A1-8B2B-DE2576D07047}" type="slidenum">
              <a:rPr lang="pt-BR" smtClean="0"/>
              <a:pPr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657349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40EBA5-ED71-45A1-8B2B-DE2576D07047}" type="slidenum">
              <a:rPr lang="pt-BR" smtClean="0"/>
              <a:pPr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7425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14281" y="2130922"/>
            <a:ext cx="10361851" cy="147036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28563" y="3887100"/>
            <a:ext cx="8533289" cy="175300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078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157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236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393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4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551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EC2E5-5F2E-41F9-A0FB-F6B6A2395976}" type="datetime1">
              <a:rPr lang="pt-BR" smtClean="0"/>
              <a:pPr/>
              <a:t>15/10/2026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6D261-2523-45FF-8ED1-0BCB69162581}" type="datetime1">
              <a:rPr lang="pt-BR" smtClean="0"/>
              <a:pPr/>
              <a:t>15/10/2026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2959" y="4407924"/>
            <a:ext cx="10361851" cy="1362390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2959" y="2907388"/>
            <a:ext cx="10361851" cy="1500534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0787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1576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2363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203152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53939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304728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55515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406304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3026C-6155-4932-A819-C07131495285}" type="datetime1">
              <a:rPr lang="pt-BR" smtClean="0"/>
              <a:pPr/>
              <a:t>15/10/2026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522" y="1600573"/>
            <a:ext cx="5384099" cy="4527011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6795" y="1600573"/>
            <a:ext cx="5384099" cy="4527011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AD34F-8B2C-45E7-98CE-F7ED66FA1B80}" type="datetime1">
              <a:rPr lang="pt-BR" smtClean="0"/>
              <a:pPr/>
              <a:t>15/10/2026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522" y="1535471"/>
            <a:ext cx="5386216" cy="639911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07879" indent="0">
              <a:buNone/>
              <a:defRPr sz="2300" b="1"/>
            </a:lvl2pPr>
            <a:lvl3pPr marL="1015760" indent="0">
              <a:buNone/>
              <a:defRPr sz="2000" b="1"/>
            </a:lvl3pPr>
            <a:lvl4pPr marL="1523639" indent="0">
              <a:buNone/>
              <a:defRPr sz="1800" b="1"/>
            </a:lvl4pPr>
            <a:lvl5pPr marL="2031520" indent="0">
              <a:buNone/>
              <a:defRPr sz="1800" b="1"/>
            </a:lvl5pPr>
            <a:lvl6pPr marL="2539399" indent="0">
              <a:buNone/>
              <a:defRPr sz="1800" b="1"/>
            </a:lvl6pPr>
            <a:lvl7pPr marL="3047280" indent="0">
              <a:buNone/>
              <a:defRPr sz="1800" b="1"/>
            </a:lvl7pPr>
            <a:lvl8pPr marL="3555159" indent="0">
              <a:buNone/>
              <a:defRPr sz="1800" b="1"/>
            </a:lvl8pPr>
            <a:lvl9pPr marL="4063040" indent="0">
              <a:buNone/>
              <a:defRPr sz="18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09522" y="2175380"/>
            <a:ext cx="5386216" cy="3952203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92565" y="1535471"/>
            <a:ext cx="5388332" cy="639911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07879" indent="0">
              <a:buNone/>
              <a:defRPr sz="2300" b="1"/>
            </a:lvl2pPr>
            <a:lvl3pPr marL="1015760" indent="0">
              <a:buNone/>
              <a:defRPr sz="2000" b="1"/>
            </a:lvl3pPr>
            <a:lvl4pPr marL="1523639" indent="0">
              <a:buNone/>
              <a:defRPr sz="1800" b="1"/>
            </a:lvl4pPr>
            <a:lvl5pPr marL="2031520" indent="0">
              <a:buNone/>
              <a:defRPr sz="1800" b="1"/>
            </a:lvl5pPr>
            <a:lvl6pPr marL="2539399" indent="0">
              <a:buNone/>
              <a:defRPr sz="1800" b="1"/>
            </a:lvl6pPr>
            <a:lvl7pPr marL="3047280" indent="0">
              <a:buNone/>
              <a:defRPr sz="1800" b="1"/>
            </a:lvl7pPr>
            <a:lvl8pPr marL="3555159" indent="0">
              <a:buNone/>
              <a:defRPr sz="1800" b="1"/>
            </a:lvl8pPr>
            <a:lvl9pPr marL="4063040" indent="0">
              <a:buNone/>
              <a:defRPr sz="18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2565" y="2175380"/>
            <a:ext cx="5388332" cy="3952203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FFB13-4A75-42B7-90FC-4FF930268F62}" type="datetime1">
              <a:rPr lang="pt-BR" smtClean="0"/>
              <a:pPr/>
              <a:t>15/10/2026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2C7D3-B9EE-4353-80CB-4E628B094EA8}" type="datetime1">
              <a:rPr lang="pt-BR" smtClean="0"/>
              <a:pPr/>
              <a:t>15/10/2026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70A78-9207-4F09-A348-718AD96E4D93}" type="datetime1">
              <a:rPr lang="pt-BR" smtClean="0"/>
              <a:pPr/>
              <a:t>15/10/2026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525" y="273115"/>
            <a:ext cx="4010562" cy="1162320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66113" y="273118"/>
            <a:ext cx="6814779" cy="5854468"/>
          </a:xfrm>
        </p:spPr>
        <p:txBody>
          <a:bodyPr/>
          <a:lstStyle>
            <a:lvl1pPr>
              <a:defRPr sz="3600"/>
            </a:lvl1pPr>
            <a:lvl2pPr>
              <a:defRPr sz="3100"/>
            </a:lvl2pPr>
            <a:lvl3pPr>
              <a:defRPr sz="27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525" y="1435437"/>
            <a:ext cx="4010562" cy="4692149"/>
          </a:xfrm>
        </p:spPr>
        <p:txBody>
          <a:bodyPr/>
          <a:lstStyle>
            <a:lvl1pPr marL="0" indent="0">
              <a:buNone/>
              <a:defRPr sz="1500"/>
            </a:lvl1pPr>
            <a:lvl2pPr marL="507879" indent="0">
              <a:buNone/>
              <a:defRPr sz="1300"/>
            </a:lvl2pPr>
            <a:lvl3pPr marL="1015760" indent="0">
              <a:buNone/>
              <a:defRPr sz="1100"/>
            </a:lvl3pPr>
            <a:lvl4pPr marL="1523639" indent="0">
              <a:buNone/>
              <a:defRPr sz="1000"/>
            </a:lvl4pPr>
            <a:lvl5pPr marL="2031520" indent="0">
              <a:buNone/>
              <a:defRPr sz="1000"/>
            </a:lvl5pPr>
            <a:lvl6pPr marL="2539399" indent="0">
              <a:buNone/>
              <a:defRPr sz="1000"/>
            </a:lvl6pPr>
            <a:lvl7pPr marL="3047280" indent="0">
              <a:buNone/>
              <a:defRPr sz="1000"/>
            </a:lvl7pPr>
            <a:lvl8pPr marL="3555159" indent="0">
              <a:buNone/>
              <a:defRPr sz="1000"/>
            </a:lvl8pPr>
            <a:lvl9pPr marL="4063040" indent="0">
              <a:buNone/>
              <a:defRPr sz="10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8F061-2354-4E7B-9294-11A163B323B2}" type="datetime1">
              <a:rPr lang="pt-BR" smtClean="0"/>
              <a:pPr/>
              <a:t>15/10/2026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406" y="4801714"/>
            <a:ext cx="7314248" cy="566870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389406" y="612917"/>
            <a:ext cx="7314248" cy="4115753"/>
          </a:xfrm>
        </p:spPr>
        <p:txBody>
          <a:bodyPr/>
          <a:lstStyle>
            <a:lvl1pPr marL="0" indent="0">
              <a:buNone/>
              <a:defRPr sz="3600"/>
            </a:lvl1pPr>
            <a:lvl2pPr marL="507879" indent="0">
              <a:buNone/>
              <a:defRPr sz="3100"/>
            </a:lvl2pPr>
            <a:lvl3pPr marL="1015760" indent="0">
              <a:buNone/>
              <a:defRPr sz="2700"/>
            </a:lvl3pPr>
            <a:lvl4pPr marL="1523639" indent="0">
              <a:buNone/>
              <a:defRPr sz="2300"/>
            </a:lvl4pPr>
            <a:lvl5pPr marL="2031520" indent="0">
              <a:buNone/>
              <a:defRPr sz="2300"/>
            </a:lvl5pPr>
            <a:lvl6pPr marL="2539399" indent="0">
              <a:buNone/>
              <a:defRPr sz="2300"/>
            </a:lvl6pPr>
            <a:lvl7pPr marL="3047280" indent="0">
              <a:buNone/>
              <a:defRPr sz="2300"/>
            </a:lvl7pPr>
            <a:lvl8pPr marL="3555159" indent="0">
              <a:buNone/>
              <a:defRPr sz="2300"/>
            </a:lvl8pPr>
            <a:lvl9pPr marL="4063040" indent="0">
              <a:buNone/>
              <a:defRPr sz="23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389406" y="5368584"/>
            <a:ext cx="7314248" cy="805049"/>
          </a:xfrm>
        </p:spPr>
        <p:txBody>
          <a:bodyPr/>
          <a:lstStyle>
            <a:lvl1pPr marL="0" indent="0">
              <a:buNone/>
              <a:defRPr sz="1500"/>
            </a:lvl1pPr>
            <a:lvl2pPr marL="507879" indent="0">
              <a:buNone/>
              <a:defRPr sz="1300"/>
            </a:lvl2pPr>
            <a:lvl3pPr marL="1015760" indent="0">
              <a:buNone/>
              <a:defRPr sz="1100"/>
            </a:lvl3pPr>
            <a:lvl4pPr marL="1523639" indent="0">
              <a:buNone/>
              <a:defRPr sz="1000"/>
            </a:lvl4pPr>
            <a:lvl5pPr marL="2031520" indent="0">
              <a:buNone/>
              <a:defRPr sz="1000"/>
            </a:lvl5pPr>
            <a:lvl6pPr marL="2539399" indent="0">
              <a:buNone/>
              <a:defRPr sz="1000"/>
            </a:lvl6pPr>
            <a:lvl7pPr marL="3047280" indent="0">
              <a:buNone/>
              <a:defRPr sz="1000"/>
            </a:lvl7pPr>
            <a:lvl8pPr marL="3555159" indent="0">
              <a:buNone/>
              <a:defRPr sz="1000"/>
            </a:lvl8pPr>
            <a:lvl9pPr marL="4063040" indent="0">
              <a:buNone/>
              <a:defRPr sz="10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7B3E-F030-42B0-83BA-8AE4FBEC2267}" type="datetime1">
              <a:rPr lang="pt-BR" smtClean="0"/>
              <a:pPr/>
              <a:t>15/10/2026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1F0EE-6503-4E8F-A013-CFD41AFB6EA6}" type="datetime1">
              <a:rPr lang="pt-BR" smtClean="0"/>
              <a:pPr/>
              <a:t>15/10/2026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8051" y="274705"/>
            <a:ext cx="2742843" cy="5852880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521" y="274705"/>
            <a:ext cx="8025355" cy="5852880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FAD86-4BE5-4079-9D68-EB0FF3EB9B8E}" type="datetime1">
              <a:rPr lang="pt-BR" smtClean="0"/>
              <a:pPr/>
              <a:t>15/10/2026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09522" y="274702"/>
            <a:ext cx="10971372" cy="1143265"/>
          </a:xfrm>
          <a:prstGeom prst="rect">
            <a:avLst/>
          </a:prstGeom>
        </p:spPr>
        <p:txBody>
          <a:bodyPr vert="horz" lIns="101576" tIns="50788" rIns="101576" bIns="50788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522" y="1600573"/>
            <a:ext cx="10971372" cy="4527011"/>
          </a:xfrm>
          <a:prstGeom prst="rect">
            <a:avLst/>
          </a:prstGeom>
        </p:spPr>
        <p:txBody>
          <a:bodyPr vert="horz" lIns="101576" tIns="50788" rIns="101576" bIns="50788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09521" y="6357824"/>
            <a:ext cx="2844430" cy="365210"/>
          </a:xfrm>
          <a:prstGeom prst="rect">
            <a:avLst/>
          </a:prstGeom>
        </p:spPr>
        <p:txBody>
          <a:bodyPr vert="horz" lIns="101576" tIns="50788" rIns="101576" bIns="5078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E8A825-296A-4964-85BE-4EAB02630B2E}" type="datetime1">
              <a:rPr lang="pt-BR" smtClean="0"/>
              <a:pPr/>
              <a:t>15/10/2026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165059" y="6357824"/>
            <a:ext cx="3860297" cy="365210"/>
          </a:xfrm>
          <a:prstGeom prst="rect">
            <a:avLst/>
          </a:prstGeom>
        </p:spPr>
        <p:txBody>
          <a:bodyPr vert="horz" lIns="101576" tIns="50788" rIns="101576" bIns="5078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Conway et al. (2005)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736463" y="6357824"/>
            <a:ext cx="2844430" cy="365210"/>
          </a:xfrm>
          <a:prstGeom prst="rect">
            <a:avLst/>
          </a:prstGeom>
        </p:spPr>
        <p:txBody>
          <a:bodyPr vert="horz" lIns="101576" tIns="50788" rIns="101576" bIns="5078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1015760" rtl="0" eaLnBrk="1" latinLnBrk="0" hangingPunct="1">
        <a:spcBef>
          <a:spcPct val="0"/>
        </a:spcBef>
        <a:buNone/>
        <a:defRPr sz="4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0910" indent="-380910" algn="l" defTabSz="101576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25306" indent="-317425" algn="l" defTabSz="1015760" rtl="0" eaLnBrk="1" latinLnBrk="0" hangingPunct="1">
        <a:spcBef>
          <a:spcPct val="20000"/>
        </a:spcBef>
        <a:buFont typeface="Arial" pitchFamily="34" charset="0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269700" indent="-253940" algn="l" defTabSz="101576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777580" indent="-253940" algn="l" defTabSz="1015760" rtl="0" eaLnBrk="1" latinLnBrk="0" hangingPunct="1">
        <a:spcBef>
          <a:spcPct val="20000"/>
        </a:spcBef>
        <a:buFont typeface="Arial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285460" indent="-253940" algn="l" defTabSz="1015760" rtl="0" eaLnBrk="1" latinLnBrk="0" hangingPunct="1">
        <a:spcBef>
          <a:spcPct val="20000"/>
        </a:spcBef>
        <a:buFont typeface="Arial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793340" indent="-253940" algn="l" defTabSz="1015760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01220" indent="-253940" algn="l" defTabSz="1015760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100" indent="-253940" algn="l" defTabSz="1015760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316980" indent="-253940" algn="l" defTabSz="1015760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7879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5760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3639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1520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39399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47280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5159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3040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2" y="1"/>
            <a:ext cx="205201" cy="4103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1576" tIns="50788" rIns="101576" bIns="50788" anchor="ctr">
            <a:prstTxWarp prst="textNoShape">
              <a:avLst/>
            </a:prstTxWarp>
            <a:spAutoFit/>
          </a:bodyPr>
          <a:lstStyle/>
          <a:p>
            <a:endParaRPr lang="pt-BR" dirty="0"/>
          </a:p>
        </p:txBody>
      </p:sp>
      <p:sp>
        <p:nvSpPr>
          <p:cNvPr id="15" name="Elipse 5"/>
          <p:cNvSpPr/>
          <p:nvPr/>
        </p:nvSpPr>
        <p:spPr>
          <a:xfrm>
            <a:off x="11142720" y="6359400"/>
            <a:ext cx="570960" cy="428400"/>
          </a:xfrm>
          <a:prstGeom prst="ellipse">
            <a:avLst/>
          </a:prstGeom>
          <a:solidFill>
            <a:schemeClr val="bg1"/>
          </a:solidFill>
          <a:ln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251" y="0"/>
            <a:ext cx="12218211" cy="6859588"/>
          </a:xfrm>
          <a:prstGeom prst="rect">
            <a:avLst/>
          </a:prstGeom>
        </p:spPr>
      </p:pic>
      <p:sp>
        <p:nvSpPr>
          <p:cNvPr id="14" name="PlaceHolder 1"/>
          <p:cNvSpPr txBox="1">
            <a:spLocks/>
          </p:cNvSpPr>
          <p:nvPr/>
        </p:nvSpPr>
        <p:spPr>
          <a:xfrm rot="21346946">
            <a:off x="249410" y="2451431"/>
            <a:ext cx="8058167" cy="3855620"/>
          </a:xfrm>
          <a:prstGeom prst="rect">
            <a:avLst/>
          </a:prstGeom>
          <a:noFill/>
          <a:ln w="0">
            <a:noFill/>
          </a:ln>
        </p:spPr>
        <p:txBody>
          <a:bodyPr vert="horz" lIns="101520" tIns="50760" rIns="101520" bIns="50760" rtlCol="0" anchor="ctr">
            <a:noAutofit/>
          </a:bodyPr>
          <a:lstStyle/>
          <a:p>
            <a:pPr marL="0" marR="0" lvl="0" indent="0" algn="ctr" defTabSz="10157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0" i="0" u="none" strike="noStrike" kern="1200" cap="none" spc="-1" normalizeH="0" baseline="0" noProof="0" dirty="0">
                <a:ln w="28575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Bangers" panose="00000500000000000000" pitchFamily="2" charset="0"/>
                <a:ea typeface="+mj-ea"/>
                <a:cs typeface="+mj-cs"/>
              </a:rPr>
              <a:t>CONTADOR DE TENTATIVAS</a:t>
            </a:r>
          </a:p>
        </p:txBody>
      </p:sp>
      <p:sp>
        <p:nvSpPr>
          <p:cNvPr id="8" name="PlaceHolder 1"/>
          <p:cNvSpPr txBox="1">
            <a:spLocks/>
          </p:cNvSpPr>
          <p:nvPr/>
        </p:nvSpPr>
        <p:spPr>
          <a:xfrm rot="21346946">
            <a:off x="338944" y="889796"/>
            <a:ext cx="7383179" cy="2349126"/>
          </a:xfrm>
          <a:prstGeom prst="rect">
            <a:avLst/>
          </a:prstGeom>
          <a:noFill/>
          <a:ln w="0">
            <a:noFill/>
          </a:ln>
        </p:spPr>
        <p:txBody>
          <a:bodyPr vert="horz" lIns="101520" tIns="50760" rIns="101520" bIns="50760" rtlCol="0" anchor="ctr">
            <a:normAutofit/>
          </a:bodyPr>
          <a:lstStyle/>
          <a:p>
            <a:pPr marL="0" marR="0" lvl="0" indent="0" algn="ctr" defTabSz="10157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0" i="0" u="none" strike="noStrike" kern="1200" cap="none" spc="-1" normalizeH="0" baseline="0" noProof="0" dirty="0">
                <a:ln w="28575">
                  <a:solidFill>
                    <a:schemeClr val="tx1"/>
                  </a:solidFill>
                </a:ln>
                <a:solidFill>
                  <a:srgbClr val="FFFF66"/>
                </a:solidFill>
                <a:effectLst/>
                <a:uLnTx/>
                <a:uFillTx/>
                <a:latin typeface="Bangers" panose="00000500000000000000" pitchFamily="2" charset="0"/>
                <a:ea typeface="+mj-ea"/>
                <a:cs typeface="+mj-cs"/>
              </a:rPr>
              <a:t>AULA 085</a:t>
            </a:r>
          </a:p>
        </p:txBody>
      </p:sp>
    </p:spTree>
    <p:extLst>
      <p:ext uri="{BB962C8B-B14F-4D97-AF65-F5344CB8AC3E}">
        <p14:creationId xmlns:p14="http://schemas.microsoft.com/office/powerpoint/2010/main" val="409638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2</a:t>
            </a:fld>
            <a:endParaRPr lang="pt-BR"/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6B4489DE-8245-4E42-9A3C-E7274AD665C1}"/>
              </a:ext>
            </a:extLst>
          </p:cNvPr>
          <p:cNvGrpSpPr/>
          <p:nvPr/>
        </p:nvGrpSpPr>
        <p:grpSpPr>
          <a:xfrm>
            <a:off x="190550" y="6143881"/>
            <a:ext cx="7776864" cy="670289"/>
            <a:chOff x="190550" y="6143881"/>
            <a:chExt cx="7776864" cy="670289"/>
          </a:xfrm>
        </p:grpSpPr>
        <p:cxnSp>
          <p:nvCxnSpPr>
            <p:cNvPr id="25" name="Conector de Seta Reta 24">
              <a:extLst>
                <a:ext uri="{FF2B5EF4-FFF2-40B4-BE49-F238E27FC236}">
                  <a16:creationId xmlns:a16="http://schemas.microsoft.com/office/drawing/2014/main" id="{46A1675D-A067-40C7-8DCA-E0EABB0FADC7}"/>
                </a:ext>
              </a:extLst>
            </p:cNvPr>
            <p:cNvCxnSpPr>
              <a:cxnSpLocks/>
            </p:cNvCxnSpPr>
            <p:nvPr/>
          </p:nvCxnSpPr>
          <p:spPr>
            <a:xfrm>
              <a:off x="190550" y="6166098"/>
              <a:ext cx="7776864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tângulo 25">
              <a:extLst>
                <a:ext uri="{FF2B5EF4-FFF2-40B4-BE49-F238E27FC236}">
                  <a16:creationId xmlns:a16="http://schemas.microsoft.com/office/drawing/2014/main" id="{2EF55DF0-AFF9-4603-A767-90CDEBDCD7D0}"/>
                </a:ext>
              </a:extLst>
            </p:cNvPr>
            <p:cNvSpPr/>
            <p:nvPr/>
          </p:nvSpPr>
          <p:spPr>
            <a:xfrm>
              <a:off x="2279182" y="6143881"/>
              <a:ext cx="3600000" cy="670289"/>
            </a:xfrm>
            <a:prstGeom prst="rect">
              <a:avLst/>
            </a:prstGeom>
            <a:noFill/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35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tempo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Espaço Reservado para Conteúdo 2">
                <a:extLst>
                  <a:ext uri="{FF2B5EF4-FFF2-40B4-BE49-F238E27FC236}">
                    <a16:creationId xmlns:a16="http://schemas.microsoft.com/office/drawing/2014/main" id="{6206A541-09BA-4878-9FEC-AFF4213B133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522" y="1053530"/>
                <a:ext cx="11390340" cy="5304294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80910" indent="-380910" algn="l" defTabSz="101576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25306" indent="-317425" algn="l" defTabSz="101576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3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69700" indent="-253940" algn="l" defTabSz="101576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777580" indent="-253940" algn="l" defTabSz="101576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285460" indent="-253940" algn="l" defTabSz="101576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793340" indent="-253940" algn="l" defTabSz="101576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301220" indent="-253940" algn="l" defTabSz="101576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809100" indent="-253940" algn="l" defTabSz="101576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316980" indent="-253940" algn="l" defTabSz="101576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sz="3200" i="1" dirty="0"/>
                  <a:t>Serial </a:t>
                </a:r>
                <a:r>
                  <a:rPr lang="pt-BR" sz="3200" i="1" dirty="0" err="1"/>
                  <a:t>reaction</a:t>
                </a:r>
                <a:r>
                  <a:rPr lang="pt-BR" sz="3200" i="1" dirty="0"/>
                  <a:t> time </a:t>
                </a:r>
                <a:r>
                  <a:rPr lang="pt-BR" sz="3200" i="1" dirty="0" err="1"/>
                  <a:t>task</a:t>
                </a:r>
                <a:endParaRPr lang="pt-BR" sz="3200" i="1" dirty="0"/>
              </a:p>
              <a:p>
                <a:pPr lvl="1"/>
                <a:r>
                  <a:rPr lang="pt-BR" sz="2700" dirty="0"/>
                  <a:t>12 blocos com 70 tentativas cada + 1 bloco inicial de treino </a:t>
                </a:r>
                <a:r>
                  <a:rPr lang="pt-BR" sz="2700"/>
                  <a:t>(63 </a:t>
                </a:r>
                <a:r>
                  <a:rPr lang="pt-BR" sz="2700" dirty="0"/>
                  <a:t>tentativas)</a:t>
                </a:r>
              </a:p>
              <a:p>
                <a:pPr lvl="1"/>
                <a:r>
                  <a:rPr lang="pt-BR" sz="2700" dirty="0">
                    <a:solidFill>
                      <a:schemeClr val="tx1"/>
                    </a:solidFill>
                  </a:rPr>
                  <a:t>Blocos </a:t>
                </a:r>
                <a:r>
                  <a:rPr lang="pt-BR" sz="2700" i="1" dirty="0">
                    <a:solidFill>
                      <a:srgbClr val="002060"/>
                    </a:solidFill>
                  </a:rPr>
                  <a:t>aleatórios</a:t>
                </a:r>
                <a:r>
                  <a:rPr lang="pt-BR" sz="2700" dirty="0">
                    <a:solidFill>
                      <a:schemeClr val="tx1"/>
                    </a:solidFill>
                  </a:rPr>
                  <a:t> (</a:t>
                </a:r>
                <a14:m>
                  <m:oMath xmlns:m="http://schemas.openxmlformats.org/officeDocument/2006/math">
                    <m:r>
                      <a:rPr lang="pt-BR" sz="27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7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:1, 7, 8, 9, 10</m:t>
                    </m:r>
                  </m:oMath>
                </a14:m>
                <a:r>
                  <a:rPr lang="pt-BR" sz="2700" dirty="0">
                    <a:solidFill>
                      <a:schemeClr val="tx1"/>
                    </a:solidFill>
                  </a:rPr>
                  <a:t>) e </a:t>
                </a:r>
                <a:r>
                  <a:rPr lang="pt-BR" sz="2700" i="1" dirty="0">
                    <a:solidFill>
                      <a:srgbClr val="002060"/>
                    </a:solidFill>
                  </a:rPr>
                  <a:t>sequenciais</a:t>
                </a:r>
                <a:r>
                  <a:rPr lang="pt-BR" sz="2700" dirty="0">
                    <a:solidFill>
                      <a:schemeClr val="tx1"/>
                    </a:solidFill>
                  </a:rPr>
                  <a:t> </a:t>
                </a:r>
                <a:r>
                  <a:rPr lang="pt-BR" sz="2700" dirty="0"/>
                  <a:t>(</a:t>
                </a:r>
                <a14:m>
                  <m:oMath xmlns:m="http://schemas.openxmlformats.org/officeDocument/2006/math">
                    <m:r>
                      <a:rPr lang="pt-BR" sz="2700" b="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pt-BR" sz="27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pt-BR" sz="2700" b="0" i="1" dirty="0" smtClean="0">
                        <a:latin typeface="Cambria Math" panose="02040503050406030204" pitchFamily="18" charset="0"/>
                      </a:rPr>
                      <m:t>2, 3, 4, 5, 6, 11, 12</m:t>
                    </m:r>
                  </m:oMath>
                </a14:m>
                <a:r>
                  <a:rPr lang="pt-BR" sz="2700" dirty="0"/>
                  <a:t>)</a:t>
                </a:r>
              </a:p>
              <a:p>
                <a:pPr lvl="1"/>
                <a:r>
                  <a:rPr lang="pt-BR" sz="2700" dirty="0"/>
                  <a:t>Bloco sequencial: </a:t>
                </a:r>
                <a14:m>
                  <m:oMath xmlns:m="http://schemas.openxmlformats.org/officeDocument/2006/math">
                    <m:r>
                      <a:rPr lang="pt-BR" sz="2700" b="0" i="1" smtClean="0">
                        <a:latin typeface="Cambria Math" panose="02040503050406030204" pitchFamily="18" charset="0"/>
                      </a:rPr>
                      <m:t>4231342</m:t>
                    </m:r>
                  </m:oMath>
                </a14:m>
                <a:r>
                  <a:rPr lang="pt-BR" sz="2700" dirty="0"/>
                  <a:t> (Cohen et al., 1990)</a:t>
                </a:r>
              </a:p>
              <a:p>
                <a:pPr lvl="1"/>
                <a:endParaRPr lang="pt-BR" sz="2800" i="1" dirty="0"/>
              </a:p>
            </p:txBody>
          </p:sp>
        </mc:Choice>
        <mc:Fallback xmlns="">
          <p:sp>
            <p:nvSpPr>
              <p:cNvPr id="31" name="Espaço Reservado para Conteúdo 2">
                <a:extLst>
                  <a:ext uri="{FF2B5EF4-FFF2-40B4-BE49-F238E27FC236}">
                    <a16:creationId xmlns:a16="http://schemas.microsoft.com/office/drawing/2014/main" id="{6206A541-09BA-4878-9FEC-AFF4213B13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22" y="1053530"/>
                <a:ext cx="11390340" cy="5304294"/>
              </a:xfrm>
              <a:prstGeom prst="rect">
                <a:avLst/>
              </a:prstGeom>
              <a:blipFill>
                <a:blip r:embed="rId3"/>
                <a:stretch>
                  <a:fillRect l="-1231" t="-149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tângulo 18">
            <a:extLst>
              <a:ext uri="{FF2B5EF4-FFF2-40B4-BE49-F238E27FC236}">
                <a16:creationId xmlns:a16="http://schemas.microsoft.com/office/drawing/2014/main" id="{E7315B44-15D1-4140-B4A6-3B7EB131A6D9}"/>
              </a:ext>
            </a:extLst>
          </p:cNvPr>
          <p:cNvSpPr/>
          <p:nvPr/>
        </p:nvSpPr>
        <p:spPr>
          <a:xfrm>
            <a:off x="0" y="0"/>
            <a:ext cx="12190413" cy="929464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/>
              <a:t>Tarefa de tempo de reação serial </a:t>
            </a:r>
            <a:r>
              <a:rPr lang="pt-BR" sz="2800" dirty="0"/>
              <a:t>(Unsworth &amp; Engle, 2005)</a:t>
            </a: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CB11469D-9FC0-4CA4-8E00-7F2BD831002F}"/>
              </a:ext>
            </a:extLst>
          </p:cNvPr>
          <p:cNvGrpSpPr/>
          <p:nvPr/>
        </p:nvGrpSpPr>
        <p:grpSpPr>
          <a:xfrm>
            <a:off x="334566" y="3213770"/>
            <a:ext cx="3600000" cy="2902537"/>
            <a:chOff x="334566" y="2925738"/>
            <a:chExt cx="3600000" cy="2902537"/>
          </a:xfrm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8F0E803F-2B60-4F79-86B8-48D29031A6F6}"/>
                </a:ext>
              </a:extLst>
            </p:cNvPr>
            <p:cNvGrpSpPr/>
            <p:nvPr/>
          </p:nvGrpSpPr>
          <p:grpSpPr>
            <a:xfrm>
              <a:off x="334566" y="2925738"/>
              <a:ext cx="3600000" cy="2902537"/>
              <a:chOff x="334566" y="2925738"/>
              <a:chExt cx="3600000" cy="2902537"/>
            </a:xfrm>
          </p:grpSpPr>
          <p:sp>
            <p:nvSpPr>
              <p:cNvPr id="14" name="Retângulo 13">
                <a:extLst>
                  <a:ext uri="{FF2B5EF4-FFF2-40B4-BE49-F238E27FC236}">
                    <a16:creationId xmlns:a16="http://schemas.microsoft.com/office/drawing/2014/main" id="{D60FC221-F4E5-4B69-84CA-55170D7102E3}"/>
                  </a:ext>
                </a:extLst>
              </p:cNvPr>
              <p:cNvSpPr/>
              <p:nvPr/>
            </p:nvSpPr>
            <p:spPr>
              <a:xfrm>
                <a:off x="334566" y="2925738"/>
                <a:ext cx="3600000" cy="2160000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7" name="Retângulo 26">
                <a:extLst>
                  <a:ext uri="{FF2B5EF4-FFF2-40B4-BE49-F238E27FC236}">
                    <a16:creationId xmlns:a16="http://schemas.microsoft.com/office/drawing/2014/main" id="{32463FF4-E7F2-4136-A42A-E85363F9AF6F}"/>
                  </a:ext>
                </a:extLst>
              </p:cNvPr>
              <p:cNvSpPr/>
              <p:nvPr/>
            </p:nvSpPr>
            <p:spPr>
              <a:xfrm>
                <a:off x="334566" y="5157986"/>
                <a:ext cx="3600000" cy="670289"/>
              </a:xfrm>
              <a:prstGeom prst="rect">
                <a:avLst/>
              </a:prstGeom>
              <a:noFill/>
              <a:ln w="571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35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500 </a:t>
                </a:r>
                <a:r>
                  <a:rPr lang="pt-BR" sz="35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ms</a:t>
                </a:r>
                <a:endParaRPr lang="pt-BR" sz="35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p:grpSp>
        <p:sp>
          <p:nvSpPr>
            <p:cNvPr id="2" name="Retângulo 1">
              <a:extLst>
                <a:ext uri="{FF2B5EF4-FFF2-40B4-BE49-F238E27FC236}">
                  <a16:creationId xmlns:a16="http://schemas.microsoft.com/office/drawing/2014/main" id="{FBE27E27-F07A-4765-B115-911C5EA7636B}"/>
                </a:ext>
              </a:extLst>
            </p:cNvPr>
            <p:cNvSpPr/>
            <p:nvPr/>
          </p:nvSpPr>
          <p:spPr>
            <a:xfrm>
              <a:off x="694606" y="3753890"/>
              <a:ext cx="540000" cy="54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FE708203-9183-47F9-BBCE-A53617594ACE}"/>
                </a:ext>
              </a:extLst>
            </p:cNvPr>
            <p:cNvSpPr/>
            <p:nvPr/>
          </p:nvSpPr>
          <p:spPr>
            <a:xfrm>
              <a:off x="1486694" y="3753890"/>
              <a:ext cx="540000" cy="54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8A534680-8019-481A-BA67-4D75B791EB67}"/>
                </a:ext>
              </a:extLst>
            </p:cNvPr>
            <p:cNvSpPr/>
            <p:nvPr/>
          </p:nvSpPr>
          <p:spPr>
            <a:xfrm>
              <a:off x="2242838" y="3753890"/>
              <a:ext cx="540000" cy="54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8BFBA6E2-8140-4EDE-9274-E1B3CB8A1FCE}"/>
                </a:ext>
              </a:extLst>
            </p:cNvPr>
            <p:cNvSpPr/>
            <p:nvPr/>
          </p:nvSpPr>
          <p:spPr>
            <a:xfrm>
              <a:off x="2998862" y="3753890"/>
              <a:ext cx="540000" cy="54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C6F4D798-DC51-42D1-9A7F-7753B6501BC3}"/>
              </a:ext>
            </a:extLst>
          </p:cNvPr>
          <p:cNvGrpSpPr/>
          <p:nvPr/>
        </p:nvGrpSpPr>
        <p:grpSpPr>
          <a:xfrm>
            <a:off x="4295006" y="3213770"/>
            <a:ext cx="3600400" cy="2902537"/>
            <a:chOff x="4295006" y="2925738"/>
            <a:chExt cx="3600400" cy="2902537"/>
          </a:xfrm>
        </p:grpSpPr>
        <p:grpSp>
          <p:nvGrpSpPr>
            <p:cNvPr id="7" name="Agrupar 6">
              <a:extLst>
                <a:ext uri="{FF2B5EF4-FFF2-40B4-BE49-F238E27FC236}">
                  <a16:creationId xmlns:a16="http://schemas.microsoft.com/office/drawing/2014/main" id="{7EB3D2AE-E113-423C-ACB2-54C2B5790AEB}"/>
                </a:ext>
              </a:extLst>
            </p:cNvPr>
            <p:cNvGrpSpPr/>
            <p:nvPr/>
          </p:nvGrpSpPr>
          <p:grpSpPr>
            <a:xfrm>
              <a:off x="4295006" y="2925738"/>
              <a:ext cx="3600400" cy="2902537"/>
              <a:chOff x="4295006" y="2925738"/>
              <a:chExt cx="3600400" cy="2902537"/>
            </a:xfrm>
          </p:grpSpPr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A02692B4-BF90-47DE-AA33-7FAD45D6F4C3}"/>
                  </a:ext>
                </a:extLst>
              </p:cNvPr>
              <p:cNvSpPr/>
              <p:nvPr/>
            </p:nvSpPr>
            <p:spPr>
              <a:xfrm>
                <a:off x="4295006" y="2925738"/>
                <a:ext cx="3600000" cy="2160000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8" name="Retângulo 27">
                <a:extLst>
                  <a:ext uri="{FF2B5EF4-FFF2-40B4-BE49-F238E27FC236}">
                    <a16:creationId xmlns:a16="http://schemas.microsoft.com/office/drawing/2014/main" id="{4DBFAEE8-DAB7-41B6-B47F-CFCE1E283C9F}"/>
                  </a:ext>
                </a:extLst>
              </p:cNvPr>
              <p:cNvSpPr/>
              <p:nvPr/>
            </p:nvSpPr>
            <p:spPr>
              <a:xfrm>
                <a:off x="4295406" y="5157986"/>
                <a:ext cx="3600000" cy="670289"/>
              </a:xfrm>
              <a:prstGeom prst="rect">
                <a:avLst/>
              </a:prstGeom>
              <a:noFill/>
              <a:ln w="571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35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Até a resposta</a:t>
                </a:r>
              </a:p>
            </p:txBody>
          </p:sp>
        </p:grpSp>
        <p:sp>
          <p:nvSpPr>
            <p:cNvPr id="24" name="Retângulo 23">
              <a:extLst>
                <a:ext uri="{FF2B5EF4-FFF2-40B4-BE49-F238E27FC236}">
                  <a16:creationId xmlns:a16="http://schemas.microsoft.com/office/drawing/2014/main" id="{AE9440A7-19DF-4B43-80BF-265B9DAC99B5}"/>
                </a:ext>
              </a:extLst>
            </p:cNvPr>
            <p:cNvSpPr/>
            <p:nvPr/>
          </p:nvSpPr>
          <p:spPr>
            <a:xfrm>
              <a:off x="4727054" y="3753890"/>
              <a:ext cx="540000" cy="54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4" name="Retângulo 33">
              <a:extLst>
                <a:ext uri="{FF2B5EF4-FFF2-40B4-BE49-F238E27FC236}">
                  <a16:creationId xmlns:a16="http://schemas.microsoft.com/office/drawing/2014/main" id="{C31B1066-9B23-435D-89F6-68055ECA4500}"/>
                </a:ext>
              </a:extLst>
            </p:cNvPr>
            <p:cNvSpPr/>
            <p:nvPr/>
          </p:nvSpPr>
          <p:spPr>
            <a:xfrm>
              <a:off x="5519142" y="3753890"/>
              <a:ext cx="540000" cy="54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5" name="Retângulo 34">
              <a:extLst>
                <a:ext uri="{FF2B5EF4-FFF2-40B4-BE49-F238E27FC236}">
                  <a16:creationId xmlns:a16="http://schemas.microsoft.com/office/drawing/2014/main" id="{7F70E418-6720-4E8F-AAA1-474757FBE363}"/>
                </a:ext>
              </a:extLst>
            </p:cNvPr>
            <p:cNvSpPr/>
            <p:nvPr/>
          </p:nvSpPr>
          <p:spPr>
            <a:xfrm>
              <a:off x="6275286" y="3753890"/>
              <a:ext cx="540000" cy="54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30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36" name="Retângulo 35">
              <a:extLst>
                <a:ext uri="{FF2B5EF4-FFF2-40B4-BE49-F238E27FC236}">
                  <a16:creationId xmlns:a16="http://schemas.microsoft.com/office/drawing/2014/main" id="{4D35CD31-D613-484A-9B84-5EE91FDC282E}"/>
                </a:ext>
              </a:extLst>
            </p:cNvPr>
            <p:cNvSpPr/>
            <p:nvPr/>
          </p:nvSpPr>
          <p:spPr>
            <a:xfrm>
              <a:off x="7031310" y="3753890"/>
              <a:ext cx="540000" cy="54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45" name="Retângulo 44">
            <a:extLst>
              <a:ext uri="{FF2B5EF4-FFF2-40B4-BE49-F238E27FC236}">
                <a16:creationId xmlns:a16="http://schemas.microsoft.com/office/drawing/2014/main" id="{C4205219-6983-4775-8F1D-7CB4FCFE3FB0}"/>
              </a:ext>
            </a:extLst>
          </p:cNvPr>
          <p:cNvSpPr/>
          <p:nvPr/>
        </p:nvSpPr>
        <p:spPr>
          <a:xfrm>
            <a:off x="3250950" y="4989672"/>
            <a:ext cx="540000" cy="2762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1/703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43823DFA-E2AF-4B96-B115-094140DFC620}"/>
              </a:ext>
            </a:extLst>
          </p:cNvPr>
          <p:cNvSpPr/>
          <p:nvPr/>
        </p:nvSpPr>
        <p:spPr>
          <a:xfrm>
            <a:off x="7230022" y="4962797"/>
            <a:ext cx="540000" cy="2762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1/703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4E41C4B-6ABC-46B5-A614-36E5423F6D3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3518" y="3241601"/>
            <a:ext cx="3918964" cy="2204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6667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49254</TotalTime>
  <Words>95</Words>
  <Application>Microsoft Office PowerPoint</Application>
  <PresentationFormat>Personalizar</PresentationFormat>
  <Paragraphs>16</Paragraphs>
  <Slides>2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8" baseType="lpstr">
      <vt:lpstr>Arial</vt:lpstr>
      <vt:lpstr>Bangers</vt:lpstr>
      <vt:lpstr>Calibri</vt:lpstr>
      <vt:lpstr>Cambria</vt:lpstr>
      <vt:lpstr>Cambria Math</vt:lpstr>
      <vt:lpstr>Tema do Office</vt:lpstr>
      <vt:lpstr>Apresentação do PowerPoint</vt:lpstr>
      <vt:lpstr>Apresentação do PowerPoint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Lima</dc:creator>
  <cp:lastModifiedBy>Marcos Lima</cp:lastModifiedBy>
  <cp:revision>1128</cp:revision>
  <dcterms:created xsi:type="dcterms:W3CDTF">2016-11-14T13:56:39Z</dcterms:created>
  <dcterms:modified xsi:type="dcterms:W3CDTF">2026-10-15T22:05:09Z</dcterms:modified>
</cp:coreProperties>
</file>