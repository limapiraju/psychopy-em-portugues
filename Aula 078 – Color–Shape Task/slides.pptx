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652" r:id="rId2"/>
    <p:sldId id="655" r:id="rId3"/>
    <p:sldId id="656" r:id="rId4"/>
    <p:sldId id="643" r:id="rId5"/>
    <p:sldId id="658" r:id="rId6"/>
    <p:sldId id="659" r:id="rId7"/>
    <p:sldId id="657" r:id="rId8"/>
    <p:sldId id="642" r:id="rId9"/>
  </p:sldIdLst>
  <p:sldSz cx="12190413" cy="6859588"/>
  <p:notesSz cx="6858000" cy="9144000"/>
  <p:defaultTextStyle>
    <a:defPPr>
      <a:defRPr lang="pt-BR"/>
    </a:defPPr>
    <a:lvl1pPr marL="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FF66"/>
    <a:srgbClr val="FF3399"/>
    <a:srgbClr val="FF00FF"/>
    <a:srgbClr val="FFC081"/>
    <a:srgbClr val="FFCD9B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5" autoAdjust="0"/>
    <p:restoredTop sz="91129" autoAdjust="0"/>
  </p:normalViewPr>
  <p:slideViewPr>
    <p:cSldViewPr>
      <p:cViewPr varScale="1">
        <p:scale>
          <a:sx n="57" d="100"/>
          <a:sy n="57" d="100"/>
        </p:scale>
        <p:origin x="1302" y="60"/>
      </p:cViewPr>
      <p:guideLst>
        <p:guide orient="horz" pos="2161"/>
        <p:guide pos="3840"/>
      </p:guideLst>
    </p:cSldViewPr>
  </p:slideViewPr>
  <p:outlineViewPr>
    <p:cViewPr>
      <p:scale>
        <a:sx n="20" d="100"/>
        <a:sy n="20" d="100"/>
      </p:scale>
      <p:origin x="0" y="0"/>
    </p:cViewPr>
    <p:sldLst>
      <p:sld r:id="rId1" collapse="1"/>
    </p:sldLst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BE1EB-9B3A-4F88-8981-57CAE7D022DC}" type="datetimeFigureOut">
              <a:rPr lang="pt-BR" smtClean="0"/>
              <a:pPr/>
              <a:t>20/09/2025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2B78-184E-410B-8EB3-A78D003ACCE8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A2CC-C870-4222-8082-713A11CF2FEE}" type="datetimeFigureOut">
              <a:rPr lang="pt-BR" smtClean="0"/>
              <a:pPr/>
              <a:t>20/09/2025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EBA5-ED71-45A1-8B2B-DE2576D07047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73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2879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357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897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341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6228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34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69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281" y="2130922"/>
            <a:ext cx="10361851" cy="147036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3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9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5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C2E5-5F2E-41F9-A0FB-F6B6A2395976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D261-2523-45FF-8ED1-0BCB69162581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2959" y="2907388"/>
            <a:ext cx="10361851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078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7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36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315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393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472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5515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630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026C-6155-4932-A819-C07131495285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6795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D34F-8B2C-45E7-98CE-F7ED66FA1B80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535471"/>
            <a:ext cx="5386216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2565" y="1535471"/>
            <a:ext cx="5388332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2565" y="2175380"/>
            <a:ext cx="5388332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FB13-4A75-42B7-90FC-4FF930268F62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2C7D3-B9EE-4353-80CB-4E628B094EA8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0A78-9207-4F09-A348-718AD96E4D93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25" y="273115"/>
            <a:ext cx="4010562" cy="116232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113" y="273118"/>
            <a:ext cx="6814779" cy="585446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525" y="1435437"/>
            <a:ext cx="4010562" cy="46921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F061-2354-4E7B-9294-11A163B323B2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406" y="612917"/>
            <a:ext cx="7314248" cy="4115753"/>
          </a:xfrm>
        </p:spPr>
        <p:txBody>
          <a:bodyPr/>
          <a:lstStyle>
            <a:lvl1pPr marL="0" indent="0">
              <a:buNone/>
              <a:defRPr sz="3600"/>
            </a:lvl1pPr>
            <a:lvl2pPr marL="507879" indent="0">
              <a:buNone/>
              <a:defRPr sz="3100"/>
            </a:lvl2pPr>
            <a:lvl3pPr marL="1015760" indent="0">
              <a:buNone/>
              <a:defRPr sz="2700"/>
            </a:lvl3pPr>
            <a:lvl4pPr marL="1523639" indent="0">
              <a:buNone/>
              <a:defRPr sz="2300"/>
            </a:lvl4pPr>
            <a:lvl5pPr marL="2031520" indent="0">
              <a:buNone/>
              <a:defRPr sz="2300"/>
            </a:lvl5pPr>
            <a:lvl6pPr marL="2539399" indent="0">
              <a:buNone/>
              <a:defRPr sz="2300"/>
            </a:lvl6pPr>
            <a:lvl7pPr marL="3047280" indent="0">
              <a:buNone/>
              <a:defRPr sz="2300"/>
            </a:lvl7pPr>
            <a:lvl8pPr marL="3555159" indent="0">
              <a:buNone/>
              <a:defRPr sz="2300"/>
            </a:lvl8pPr>
            <a:lvl9pPr marL="4063040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7B3E-F030-42B0-83BA-8AE4FBEC2267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F0EE-6503-4E8F-A013-CFD41AFB6EA6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8051" y="274705"/>
            <a:ext cx="2742843" cy="585288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521" y="274705"/>
            <a:ext cx="8025355" cy="585288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AD86-4BE5-4079-9D68-EB0FF3EB9B8E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522" y="274702"/>
            <a:ext cx="10971372" cy="1143265"/>
          </a:xfrm>
          <a:prstGeom prst="rect">
            <a:avLst/>
          </a:prstGeom>
        </p:spPr>
        <p:txBody>
          <a:bodyPr vert="horz" lIns="101576" tIns="50788" rIns="101576" bIns="50788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</p:spPr>
        <p:txBody>
          <a:bodyPr vert="horz" lIns="101576" tIns="50788" rIns="101576" bIns="50788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521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8A825-296A-4964-85BE-4EAB02630B2E}" type="datetime1">
              <a:rPr lang="pt-BR" smtClean="0"/>
              <a:pPr/>
              <a:t>20/09/2025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059" y="6357824"/>
            <a:ext cx="3860297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6463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B0E9-E11E-4917-A8BB-33D449F29326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01576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10" indent="-380910" algn="l" defTabSz="101576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306" indent="-317425" algn="l" defTabSz="1015760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97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7580" indent="-253940" algn="l" defTabSz="101576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460" indent="-253940" algn="l" defTabSz="101576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34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22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1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1698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7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76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63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52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39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28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15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04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" y="1"/>
            <a:ext cx="205201" cy="41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76" tIns="50788" rIns="101576" bIns="50788" anchor="ctr">
            <a:prstTxWarp prst="textNoShape">
              <a:avLst/>
            </a:prstTxWarp>
            <a:spAutoFit/>
          </a:bodyPr>
          <a:lstStyle/>
          <a:p>
            <a:endParaRPr lang="pt-BR" dirty="0"/>
          </a:p>
        </p:txBody>
      </p:sp>
      <p:sp>
        <p:nvSpPr>
          <p:cNvPr id="15" name="Elipse 5"/>
          <p:cNvSpPr/>
          <p:nvPr/>
        </p:nvSpPr>
        <p:spPr>
          <a:xfrm>
            <a:off x="11142720" y="6359400"/>
            <a:ext cx="570960" cy="42840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1" y="0"/>
            <a:ext cx="12218211" cy="6859588"/>
          </a:xfrm>
          <a:prstGeom prst="rect">
            <a:avLst/>
          </a:prstGeom>
        </p:spPr>
      </p:pic>
      <p:sp>
        <p:nvSpPr>
          <p:cNvPr id="14" name="PlaceHolder 1"/>
          <p:cNvSpPr txBox="1">
            <a:spLocks/>
          </p:cNvSpPr>
          <p:nvPr/>
        </p:nvSpPr>
        <p:spPr>
          <a:xfrm rot="21346946">
            <a:off x="354442" y="2568761"/>
            <a:ext cx="8058167" cy="3855620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COLOR-SHAPE SWITCHING TASK</a:t>
            </a:r>
          </a:p>
        </p:txBody>
      </p:sp>
      <p:sp>
        <p:nvSpPr>
          <p:cNvPr id="8" name="PlaceHolder 1"/>
          <p:cNvSpPr txBox="1">
            <a:spLocks/>
          </p:cNvSpPr>
          <p:nvPr/>
        </p:nvSpPr>
        <p:spPr>
          <a:xfrm rot="21346946">
            <a:off x="338944" y="817788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AULA 078</a:t>
            </a:r>
          </a:p>
        </p:txBody>
      </p:sp>
    </p:spTree>
    <p:extLst>
      <p:ext uri="{BB962C8B-B14F-4D97-AF65-F5344CB8AC3E}">
        <p14:creationId xmlns:p14="http://schemas.microsoft.com/office/powerpoint/2010/main" val="40963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2">
            <a:extLst>
              <a:ext uri="{FF2B5EF4-FFF2-40B4-BE49-F238E27FC236}">
                <a16:creationId xmlns:a16="http://schemas.microsoft.com/office/drawing/2014/main" id="{85EDB529-302B-44E0-A073-BAB7B298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572" y="261506"/>
            <a:ext cx="3177282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Plus–Minus Task</a:t>
            </a:r>
          </a:p>
        </p:txBody>
      </p:sp>
      <p:sp>
        <p:nvSpPr>
          <p:cNvPr id="156" name="Rectangle 2">
            <a:extLst>
              <a:ext uri="{FF2B5EF4-FFF2-40B4-BE49-F238E27FC236}">
                <a16:creationId xmlns:a16="http://schemas.microsoft.com/office/drawing/2014/main" id="{5908E489-2D56-4AEA-A617-81BCC85B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981586"/>
            <a:ext cx="3177282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Number–Letter Task</a:t>
            </a:r>
          </a:p>
        </p:txBody>
      </p:sp>
      <p:sp>
        <p:nvSpPr>
          <p:cNvPr id="157" name="Rectangle 2">
            <a:extLst>
              <a:ext uri="{FF2B5EF4-FFF2-40B4-BE49-F238E27FC236}">
                <a16:creationId xmlns:a16="http://schemas.microsoft.com/office/drawing/2014/main" id="{1B04D306-E308-4CC3-8144-6DECF0978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1701666"/>
            <a:ext cx="3177282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Local–Global Task</a:t>
            </a:r>
          </a:p>
        </p:txBody>
      </p:sp>
      <p:sp>
        <p:nvSpPr>
          <p:cNvPr id="158" name="Rectangle 2">
            <a:extLst>
              <a:ext uri="{FF2B5EF4-FFF2-40B4-BE49-F238E27FC236}">
                <a16:creationId xmlns:a16="http://schemas.microsoft.com/office/drawing/2014/main" id="{E04A5B32-401B-4F90-9EBE-D9A2CEFC1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572" y="2421746"/>
            <a:ext cx="3177282" cy="57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Keep Track Task</a:t>
            </a:r>
          </a:p>
        </p:txBody>
      </p:sp>
      <p:sp>
        <p:nvSpPr>
          <p:cNvPr id="159" name="Rectangle 2">
            <a:extLst>
              <a:ext uri="{FF2B5EF4-FFF2-40B4-BE49-F238E27FC236}">
                <a16:creationId xmlns:a16="http://schemas.microsoft.com/office/drawing/2014/main" id="{C82B0B6E-73AC-4CF9-8B2C-1FCCEB396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3141826"/>
            <a:ext cx="3177282" cy="57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Tone Monitoring Task</a:t>
            </a:r>
          </a:p>
        </p:txBody>
      </p:sp>
      <p:sp>
        <p:nvSpPr>
          <p:cNvPr id="160" name="Rectangle 2">
            <a:extLst>
              <a:ext uri="{FF2B5EF4-FFF2-40B4-BE49-F238E27FC236}">
                <a16:creationId xmlns:a16="http://schemas.microsoft.com/office/drawing/2014/main" id="{341A6766-23B6-4F08-9BA4-785E86E63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3861906"/>
            <a:ext cx="3177282" cy="57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Letter Memory Task</a:t>
            </a:r>
          </a:p>
        </p:txBody>
      </p:sp>
      <p:sp>
        <p:nvSpPr>
          <p:cNvPr id="161" name="Rectangle 2">
            <a:extLst>
              <a:ext uri="{FF2B5EF4-FFF2-40B4-BE49-F238E27FC236}">
                <a16:creationId xmlns:a16="http://schemas.microsoft.com/office/drawing/2014/main" id="{DB285773-BEB9-4024-B4E2-7A0A42E7B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572" y="4581986"/>
            <a:ext cx="3177282" cy="576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Antissacade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Task</a:t>
            </a:r>
          </a:p>
        </p:txBody>
      </p:sp>
      <p:sp>
        <p:nvSpPr>
          <p:cNvPr id="162" name="Rectangle 2">
            <a:extLst>
              <a:ext uri="{FF2B5EF4-FFF2-40B4-BE49-F238E27FC236}">
                <a16:creationId xmlns:a16="http://schemas.microsoft.com/office/drawing/2014/main" id="{54AD2B1C-6A36-4AB9-B9A1-66C879727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5302066"/>
            <a:ext cx="3177282" cy="576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Stop-Signal Task</a:t>
            </a:r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C1F05522-79C5-438B-8D66-E3DC70221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6022146"/>
            <a:ext cx="3177282" cy="576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Stroop Task</a:t>
            </a:r>
          </a:p>
        </p:txBody>
      </p:sp>
      <p:sp>
        <p:nvSpPr>
          <p:cNvPr id="164" name="Oval 21">
            <a:extLst>
              <a:ext uri="{FF2B5EF4-FFF2-40B4-BE49-F238E27FC236}">
                <a16:creationId xmlns:a16="http://schemas.microsoft.com/office/drawing/2014/main" id="{FB4C12E3-30A5-4F1E-A33E-177BC0441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038" y="621482"/>
            <a:ext cx="2376264" cy="133596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  <a:round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Mudança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5" name="Oval 21">
            <a:extLst>
              <a:ext uri="{FF2B5EF4-FFF2-40B4-BE49-F238E27FC236}">
                <a16:creationId xmlns:a16="http://schemas.microsoft.com/office/drawing/2014/main" id="{6E773B74-71C9-48A6-BC04-EE05091EA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038" y="2781722"/>
            <a:ext cx="2376264" cy="133596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round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Atualização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6" name="Oval 21">
            <a:extLst>
              <a:ext uri="{FF2B5EF4-FFF2-40B4-BE49-F238E27FC236}">
                <a16:creationId xmlns:a16="http://schemas.microsoft.com/office/drawing/2014/main" id="{69F2C5BF-4CEB-4FD4-A4A6-B028F045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038" y="4902140"/>
            <a:ext cx="2376264" cy="1335966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round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Inibição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7" name="Oval 21">
            <a:extLst>
              <a:ext uri="{FF2B5EF4-FFF2-40B4-BE49-F238E27FC236}">
                <a16:creationId xmlns:a16="http://schemas.microsoft.com/office/drawing/2014/main" id="{5B5F49A9-0109-4D87-A924-B5A75670F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58" y="2741900"/>
            <a:ext cx="2376264" cy="133596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Funções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Executivas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BD5A0A16-63F2-4C69-93CE-FFA66708A5AE}"/>
              </a:ext>
            </a:extLst>
          </p:cNvPr>
          <p:cNvCxnSpPr>
            <a:cxnSpLocks/>
            <a:stCxn id="164" idx="6"/>
            <a:endCxn id="156" idx="1"/>
          </p:cNvCxnSpPr>
          <p:nvPr/>
        </p:nvCxnSpPr>
        <p:spPr>
          <a:xfrm flipV="1">
            <a:off x="6959302" y="1269586"/>
            <a:ext cx="1782853" cy="19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68D136D-CDB7-4642-9555-8F91E508A7AE}"/>
              </a:ext>
            </a:extLst>
          </p:cNvPr>
          <p:cNvCxnSpPr>
            <a:cxnSpLocks/>
            <a:stCxn id="164" idx="6"/>
            <a:endCxn id="78" idx="1"/>
          </p:cNvCxnSpPr>
          <p:nvPr/>
        </p:nvCxnSpPr>
        <p:spPr>
          <a:xfrm flipV="1">
            <a:off x="6959302" y="549506"/>
            <a:ext cx="1791270" cy="739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D8E3AAAB-D76F-4E53-9C69-C8B45310E682}"/>
              </a:ext>
            </a:extLst>
          </p:cNvPr>
          <p:cNvCxnSpPr>
            <a:cxnSpLocks/>
            <a:stCxn id="164" idx="6"/>
            <a:endCxn id="157" idx="1"/>
          </p:cNvCxnSpPr>
          <p:nvPr/>
        </p:nvCxnSpPr>
        <p:spPr>
          <a:xfrm>
            <a:off x="6959302" y="1289465"/>
            <a:ext cx="1782853" cy="70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FFF30A18-FF40-4CBE-AD38-3A716880E7E1}"/>
              </a:ext>
            </a:extLst>
          </p:cNvPr>
          <p:cNvCxnSpPr>
            <a:cxnSpLocks/>
            <a:stCxn id="165" idx="6"/>
            <a:endCxn id="158" idx="1"/>
          </p:cNvCxnSpPr>
          <p:nvPr/>
        </p:nvCxnSpPr>
        <p:spPr>
          <a:xfrm flipV="1">
            <a:off x="6959302" y="2709746"/>
            <a:ext cx="1791270" cy="739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3E925A3-7966-48FA-9611-293034C0AE7E}"/>
              </a:ext>
            </a:extLst>
          </p:cNvPr>
          <p:cNvCxnSpPr>
            <a:cxnSpLocks/>
            <a:stCxn id="165" idx="6"/>
            <a:endCxn id="159" idx="1"/>
          </p:cNvCxnSpPr>
          <p:nvPr/>
        </p:nvCxnSpPr>
        <p:spPr>
          <a:xfrm flipV="1">
            <a:off x="6959302" y="3429826"/>
            <a:ext cx="1782853" cy="19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87BDBF9A-8E01-450A-A552-45464F70CCED}"/>
              </a:ext>
            </a:extLst>
          </p:cNvPr>
          <p:cNvCxnSpPr>
            <a:cxnSpLocks/>
            <a:stCxn id="165" idx="6"/>
            <a:endCxn id="160" idx="1"/>
          </p:cNvCxnSpPr>
          <p:nvPr/>
        </p:nvCxnSpPr>
        <p:spPr>
          <a:xfrm>
            <a:off x="6959302" y="3449705"/>
            <a:ext cx="1782853" cy="70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195CB058-0354-40E4-B499-90806545455D}"/>
              </a:ext>
            </a:extLst>
          </p:cNvPr>
          <p:cNvCxnSpPr>
            <a:cxnSpLocks/>
            <a:stCxn id="166" idx="6"/>
            <a:endCxn id="161" idx="1"/>
          </p:cNvCxnSpPr>
          <p:nvPr/>
        </p:nvCxnSpPr>
        <p:spPr>
          <a:xfrm flipV="1">
            <a:off x="6959302" y="4869986"/>
            <a:ext cx="1791270" cy="700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56F1DFEF-1FE5-42AF-86D3-90D270366371}"/>
              </a:ext>
            </a:extLst>
          </p:cNvPr>
          <p:cNvCxnSpPr>
            <a:cxnSpLocks/>
            <a:stCxn id="166" idx="6"/>
            <a:endCxn id="162" idx="1"/>
          </p:cNvCxnSpPr>
          <p:nvPr/>
        </p:nvCxnSpPr>
        <p:spPr>
          <a:xfrm>
            <a:off x="6959302" y="5570123"/>
            <a:ext cx="1782853" cy="19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445312FC-7C55-4869-9485-28CB6F7CD4CA}"/>
              </a:ext>
            </a:extLst>
          </p:cNvPr>
          <p:cNvCxnSpPr>
            <a:cxnSpLocks/>
            <a:stCxn id="166" idx="6"/>
            <a:endCxn id="163" idx="1"/>
          </p:cNvCxnSpPr>
          <p:nvPr/>
        </p:nvCxnSpPr>
        <p:spPr>
          <a:xfrm>
            <a:off x="6959302" y="5570123"/>
            <a:ext cx="1782853" cy="740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CDD65DEF-9BAA-4B39-B70E-250C5AD4C402}"/>
              </a:ext>
            </a:extLst>
          </p:cNvPr>
          <p:cNvCxnSpPr>
            <a:cxnSpLocks/>
            <a:stCxn id="167" idx="6"/>
            <a:endCxn id="165" idx="2"/>
          </p:cNvCxnSpPr>
          <p:nvPr/>
        </p:nvCxnSpPr>
        <p:spPr>
          <a:xfrm>
            <a:off x="2638822" y="3409883"/>
            <a:ext cx="1944216" cy="39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6FB9DAC-5718-4D7B-A1AE-870A4BC71F43}"/>
              </a:ext>
            </a:extLst>
          </p:cNvPr>
          <p:cNvCxnSpPr>
            <a:cxnSpLocks/>
            <a:stCxn id="167" idx="6"/>
          </p:cNvCxnSpPr>
          <p:nvPr/>
        </p:nvCxnSpPr>
        <p:spPr>
          <a:xfrm flipV="1">
            <a:off x="2638822" y="1557586"/>
            <a:ext cx="2016224" cy="18522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15AF3F26-659D-4F60-A681-3E44BC6351D5}"/>
              </a:ext>
            </a:extLst>
          </p:cNvPr>
          <p:cNvCxnSpPr>
            <a:cxnSpLocks/>
            <a:stCxn id="167" idx="6"/>
          </p:cNvCxnSpPr>
          <p:nvPr/>
        </p:nvCxnSpPr>
        <p:spPr>
          <a:xfrm>
            <a:off x="2638822" y="3409883"/>
            <a:ext cx="2016224" cy="1892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D2C5E74-090C-46C4-856E-4F6DE1F6CD9A}"/>
              </a:ext>
            </a:extLst>
          </p:cNvPr>
          <p:cNvSpPr/>
          <p:nvPr/>
        </p:nvSpPr>
        <p:spPr>
          <a:xfrm>
            <a:off x="46534" y="6238106"/>
            <a:ext cx="4320480" cy="36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Baseado em Miyake et al. (2000)</a:t>
            </a:r>
          </a:p>
        </p:txBody>
      </p:sp>
    </p:spTree>
    <p:extLst>
      <p:ext uri="{BB962C8B-B14F-4D97-AF65-F5344CB8AC3E}">
        <p14:creationId xmlns:p14="http://schemas.microsoft.com/office/powerpoint/2010/main" val="3862991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9" name="Retângulo 9">
            <a:extLst>
              <a:ext uri="{FF2B5EF4-FFF2-40B4-BE49-F238E27FC236}">
                <a16:creationId xmlns:a16="http://schemas.microsoft.com/office/drawing/2014/main" id="{1342A9E3-06AB-4174-B720-E7B4C82BCF7C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i="1" dirty="0"/>
              <a:t>Color–shape switching task</a:t>
            </a:r>
            <a:r>
              <a:rPr lang="pt-BR" sz="4000" dirty="0"/>
              <a:t> </a:t>
            </a:r>
            <a:r>
              <a:rPr lang="pt-BR" sz="2500" dirty="0"/>
              <a:t>(Pennington et al., 2024; Sicard et al., 2022)</a:t>
            </a:r>
            <a:endParaRPr lang="pt-BR" sz="2500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9A314-D1A9-456D-A7B1-F98A3BD9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662" y="3978405"/>
            <a:ext cx="10155067" cy="2619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813B7E-2FFD-4CFD-8346-C6079EAB0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750" y="1232575"/>
            <a:ext cx="812595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E72C1D-5CC6-41AD-A847-9BB029A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197546"/>
            <a:ext cx="11318332" cy="5328592"/>
          </a:xfrm>
        </p:spPr>
        <p:txBody>
          <a:bodyPr>
            <a:normAutofit/>
          </a:bodyPr>
          <a:lstStyle/>
          <a:p>
            <a:r>
              <a:rPr lang="pt-BR" i="1" dirty="0">
                <a:solidFill>
                  <a:srgbClr val="002060"/>
                </a:solidFill>
              </a:rPr>
              <a:t>Tarefa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Participante vê formas geométricas (círculo ou triângulo) em uma de duas cores (azul ou verde)</a:t>
            </a:r>
          </a:p>
          <a:p>
            <a:pPr lvl="1"/>
            <a:r>
              <a:rPr lang="pt-BR" dirty="0"/>
              <a:t>Ele deve identificar cor </a:t>
            </a:r>
            <a:r>
              <a:rPr lang="pt-BR" i="1" dirty="0"/>
              <a:t>ou</a:t>
            </a:r>
            <a:r>
              <a:rPr lang="pt-BR" dirty="0"/>
              <a:t> forma, a depender do </a:t>
            </a:r>
            <a:r>
              <a:rPr lang="pt-BR" i="1" dirty="0"/>
              <a:t>prompt</a:t>
            </a:r>
            <a:r>
              <a:rPr lang="pt-BR" dirty="0"/>
              <a:t> no início da tentativa</a:t>
            </a:r>
          </a:p>
          <a:p>
            <a:pPr lvl="1"/>
            <a:r>
              <a:rPr lang="pt-BR" dirty="0"/>
              <a:t>Manipulação crítica</a:t>
            </a:r>
          </a:p>
          <a:p>
            <a:pPr lvl="2"/>
            <a:r>
              <a:rPr lang="pt-BR" i="1" dirty="0">
                <a:solidFill>
                  <a:srgbClr val="002060"/>
                </a:solidFill>
              </a:rPr>
              <a:t>Switch trials</a:t>
            </a:r>
            <a:r>
              <a:rPr lang="pt-BR" dirty="0"/>
              <a:t>: tentativa “cor” seguida de tentativa “forma” (ou o contrário)</a:t>
            </a:r>
          </a:p>
          <a:p>
            <a:pPr lvl="2"/>
            <a:r>
              <a:rPr lang="pt-BR" i="1" dirty="0">
                <a:solidFill>
                  <a:srgbClr val="002060"/>
                </a:solidFill>
              </a:rPr>
              <a:t>No-switch trials</a:t>
            </a:r>
            <a:r>
              <a:rPr lang="pt-BR" dirty="0"/>
              <a:t>: tentativa “cor” (“forma”) seguida de tentativa “cor” (“forma”)</a:t>
            </a:r>
          </a:p>
        </p:txBody>
      </p:sp>
      <p:sp>
        <p:nvSpPr>
          <p:cNvPr id="6" name="Retângulo 9">
            <a:extLst>
              <a:ext uri="{FF2B5EF4-FFF2-40B4-BE49-F238E27FC236}">
                <a16:creationId xmlns:a16="http://schemas.microsoft.com/office/drawing/2014/main" id="{15D93EFB-509E-468F-A4DC-138E0C3BF429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i="1" dirty="0"/>
              <a:t>Color–shape switching task</a:t>
            </a:r>
            <a:r>
              <a:rPr lang="pt-BR" sz="4000" dirty="0"/>
              <a:t> </a:t>
            </a:r>
            <a:r>
              <a:rPr lang="pt-BR" sz="2500" dirty="0"/>
              <a:t>(Pennington et al., 2024; Sicard et al., 2022)</a:t>
            </a:r>
            <a:endParaRPr lang="pt-BR" sz="2500" i="1" dirty="0"/>
          </a:p>
        </p:txBody>
      </p:sp>
    </p:spTree>
    <p:extLst>
      <p:ext uri="{BB962C8B-B14F-4D97-AF65-F5344CB8AC3E}">
        <p14:creationId xmlns:p14="http://schemas.microsoft.com/office/powerpoint/2010/main" val="48093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6" name="Retângulo 9">
            <a:extLst>
              <a:ext uri="{FF2B5EF4-FFF2-40B4-BE49-F238E27FC236}">
                <a16:creationId xmlns:a16="http://schemas.microsoft.com/office/drawing/2014/main" id="{15D93EFB-509E-468F-A4DC-138E0C3BF429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i="1" dirty="0"/>
              <a:t>Color–shape switching task</a:t>
            </a:r>
            <a:r>
              <a:rPr lang="pt-BR" sz="4000" dirty="0"/>
              <a:t> </a:t>
            </a:r>
            <a:r>
              <a:rPr lang="pt-BR" sz="2500" dirty="0"/>
              <a:t>(Pennington et al., 2024)</a:t>
            </a:r>
            <a:endParaRPr lang="pt-BR" sz="2500" i="1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5C05C50-878A-47E4-AC50-49F66EBA1A9E}"/>
              </a:ext>
            </a:extLst>
          </p:cNvPr>
          <p:cNvGrpSpPr/>
          <p:nvPr/>
        </p:nvGrpSpPr>
        <p:grpSpPr>
          <a:xfrm>
            <a:off x="190550" y="3275822"/>
            <a:ext cx="5400600" cy="1656184"/>
            <a:chOff x="190550" y="3275822"/>
            <a:chExt cx="5400600" cy="165618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14A17F7-A558-4451-911D-10FC7E58BAD4}"/>
                </a:ext>
              </a:extLst>
            </p:cNvPr>
            <p:cNvSpPr/>
            <p:nvPr/>
          </p:nvSpPr>
          <p:spPr>
            <a:xfrm>
              <a:off x="3070870" y="3275822"/>
              <a:ext cx="2520280" cy="16561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Cor</a:t>
              </a:r>
            </a:p>
            <a:p>
              <a:pPr algn="ctr"/>
              <a:endParaRPr lang="pt-B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endParaRPr lang="pt-BR" sz="3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CF7AD17-2D01-4DE6-8AC1-9521CD15996F}"/>
                </a:ext>
              </a:extLst>
            </p:cNvPr>
            <p:cNvSpPr/>
            <p:nvPr/>
          </p:nvSpPr>
          <p:spPr>
            <a:xfrm>
              <a:off x="190550" y="3275822"/>
              <a:ext cx="2520280" cy="16561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Cor</a:t>
              </a:r>
            </a:p>
            <a:p>
              <a:pPr algn="ctr"/>
              <a:endParaRPr lang="pt-B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endParaRPr lang="pt-BR" sz="3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6CB4A05-4FAA-415B-ABB5-330EDF5C7914}"/>
                </a:ext>
              </a:extLst>
            </p:cNvPr>
            <p:cNvSpPr/>
            <p:nvPr/>
          </p:nvSpPr>
          <p:spPr>
            <a:xfrm>
              <a:off x="4078982" y="3959898"/>
              <a:ext cx="504056" cy="468052"/>
            </a:xfrm>
            <a:prstGeom prst="triangl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292B6A4-FC1C-4904-8819-4A32D230E1C7}"/>
                </a:ext>
              </a:extLst>
            </p:cNvPr>
            <p:cNvCxnSpPr/>
            <p:nvPr/>
          </p:nvCxnSpPr>
          <p:spPr>
            <a:xfrm>
              <a:off x="4367014" y="4643974"/>
              <a:ext cx="2160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A8CBA24-D165-41C3-9D3C-33BA69AC72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6974" y="4643974"/>
              <a:ext cx="2160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4624B0C-A30A-4782-B552-ADBAAEED22EB}"/>
                </a:ext>
              </a:extLst>
            </p:cNvPr>
            <p:cNvSpPr txBox="1"/>
            <p:nvPr/>
          </p:nvSpPr>
          <p:spPr>
            <a:xfrm>
              <a:off x="3358902" y="4459888"/>
              <a:ext cx="72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Azul ou</a:t>
              </a:r>
            </a:p>
            <a:p>
              <a:pPr algn="ctr"/>
              <a:r>
                <a:rPr lang="pt-BR" sz="1000" dirty="0"/>
                <a:t>Círculo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D49C49B-A14C-4A82-9601-BE333B6891BB}"/>
                </a:ext>
              </a:extLst>
            </p:cNvPr>
            <p:cNvSpPr txBox="1"/>
            <p:nvPr/>
          </p:nvSpPr>
          <p:spPr>
            <a:xfrm>
              <a:off x="4511030" y="4459888"/>
              <a:ext cx="72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Verde ou</a:t>
              </a:r>
            </a:p>
            <a:p>
              <a:pPr algn="ctr"/>
              <a:r>
                <a:rPr lang="pt-BR" sz="1000" dirty="0"/>
                <a:t>Triângulo</a:t>
              </a: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CD15D75-681B-4E33-A6FA-7FEE266B8C61}"/>
              </a:ext>
            </a:extLst>
          </p:cNvPr>
          <p:cNvCxnSpPr>
            <a:cxnSpLocks/>
          </p:cNvCxnSpPr>
          <p:nvPr/>
        </p:nvCxnSpPr>
        <p:spPr>
          <a:xfrm flipV="1">
            <a:off x="4871070" y="2421682"/>
            <a:ext cx="1312124" cy="7260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9695BB5-4118-42E5-BEE3-11AD65FB1839}"/>
              </a:ext>
            </a:extLst>
          </p:cNvPr>
          <p:cNvCxnSpPr>
            <a:cxnSpLocks/>
          </p:cNvCxnSpPr>
          <p:nvPr/>
        </p:nvCxnSpPr>
        <p:spPr>
          <a:xfrm>
            <a:off x="4871070" y="5070009"/>
            <a:ext cx="1312124" cy="7260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E790081-71D1-4BD0-A8EA-9917AF56171F}"/>
              </a:ext>
            </a:extLst>
          </p:cNvPr>
          <p:cNvGrpSpPr/>
          <p:nvPr/>
        </p:nvGrpSpPr>
        <p:grpSpPr>
          <a:xfrm>
            <a:off x="6383238" y="1125538"/>
            <a:ext cx="5400600" cy="2520280"/>
            <a:chOff x="6383238" y="1125538"/>
            <a:chExt cx="5400600" cy="25202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DB5976-A50C-48B1-B977-9A433FC43646}"/>
                </a:ext>
              </a:extLst>
            </p:cNvPr>
            <p:cNvSpPr/>
            <p:nvPr/>
          </p:nvSpPr>
          <p:spPr>
            <a:xfrm>
              <a:off x="6383238" y="1989634"/>
              <a:ext cx="2520280" cy="16561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Cor</a:t>
              </a:r>
            </a:p>
            <a:p>
              <a:pPr algn="ctr"/>
              <a:endParaRPr lang="pt-B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endParaRPr lang="pt-BR" sz="3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B8D7707-4598-4A8A-BA0F-A63000D469AE}"/>
                </a:ext>
              </a:extLst>
            </p:cNvPr>
            <p:cNvSpPr/>
            <p:nvPr/>
          </p:nvSpPr>
          <p:spPr>
            <a:xfrm>
              <a:off x="9263558" y="1989634"/>
              <a:ext cx="2520280" cy="16561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Cor</a:t>
              </a:r>
            </a:p>
            <a:p>
              <a:pPr algn="ctr"/>
              <a:endParaRPr lang="pt-B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endParaRPr lang="pt-BR" sz="3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E0B5CF1-8251-444D-A9DD-394569CADA41}"/>
                </a:ext>
              </a:extLst>
            </p:cNvPr>
            <p:cNvSpPr/>
            <p:nvPr/>
          </p:nvSpPr>
          <p:spPr>
            <a:xfrm>
              <a:off x="10307698" y="2692889"/>
              <a:ext cx="432000" cy="432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B7E7E12-51D1-4F96-8FD7-DB8B18A3F355}"/>
                </a:ext>
              </a:extLst>
            </p:cNvPr>
            <p:cNvCxnSpPr/>
            <p:nvPr/>
          </p:nvCxnSpPr>
          <p:spPr>
            <a:xfrm>
              <a:off x="10559702" y="3357786"/>
              <a:ext cx="2160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928B571-2AE6-4B5A-B0B8-9A7C685B07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99662" y="3357786"/>
              <a:ext cx="2160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C2E2EC5-0E36-48FD-AD67-10A7A1EC0B1F}"/>
                </a:ext>
              </a:extLst>
            </p:cNvPr>
            <p:cNvSpPr txBox="1"/>
            <p:nvPr/>
          </p:nvSpPr>
          <p:spPr>
            <a:xfrm>
              <a:off x="9551590" y="3173700"/>
              <a:ext cx="72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Azul ou</a:t>
              </a:r>
            </a:p>
            <a:p>
              <a:pPr algn="ctr"/>
              <a:r>
                <a:rPr lang="pt-BR" sz="1000" dirty="0"/>
                <a:t>Círculo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282570-BFAA-4746-907A-B4EC67D11E75}"/>
                </a:ext>
              </a:extLst>
            </p:cNvPr>
            <p:cNvSpPr txBox="1"/>
            <p:nvPr/>
          </p:nvSpPr>
          <p:spPr>
            <a:xfrm>
              <a:off x="10703718" y="3173700"/>
              <a:ext cx="72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Verde ou</a:t>
              </a:r>
            </a:p>
            <a:p>
              <a:pPr algn="ctr"/>
              <a:r>
                <a:rPr lang="pt-BR" sz="1000" dirty="0"/>
                <a:t>Triângulo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BD9194A-6438-4993-BCEB-01E09B709B59}"/>
                </a:ext>
              </a:extLst>
            </p:cNvPr>
            <p:cNvSpPr/>
            <p:nvPr/>
          </p:nvSpPr>
          <p:spPr>
            <a:xfrm>
              <a:off x="6383238" y="1125538"/>
              <a:ext cx="5400600" cy="631199"/>
            </a:xfrm>
            <a:prstGeom prst="rect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i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No-switch trial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F3C14FD-DBE1-4223-8490-554BB40F924F}"/>
              </a:ext>
            </a:extLst>
          </p:cNvPr>
          <p:cNvGrpSpPr/>
          <p:nvPr/>
        </p:nvGrpSpPr>
        <p:grpSpPr>
          <a:xfrm>
            <a:off x="6383238" y="3806707"/>
            <a:ext cx="5400600" cy="2503407"/>
            <a:chOff x="6383238" y="3806707"/>
            <a:chExt cx="5400600" cy="250340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91BF7F-24E3-4CC4-88CD-07DAD3B50F95}"/>
                </a:ext>
              </a:extLst>
            </p:cNvPr>
            <p:cNvSpPr/>
            <p:nvPr/>
          </p:nvSpPr>
          <p:spPr>
            <a:xfrm>
              <a:off x="6383238" y="4653930"/>
              <a:ext cx="2520280" cy="16561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Forma</a:t>
              </a:r>
            </a:p>
            <a:p>
              <a:pPr algn="ctr"/>
              <a:endParaRPr lang="pt-B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endParaRPr lang="pt-BR" sz="3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9AA415E-938D-4A4A-9162-66D744A0FECC}"/>
                </a:ext>
              </a:extLst>
            </p:cNvPr>
            <p:cNvSpPr/>
            <p:nvPr/>
          </p:nvSpPr>
          <p:spPr>
            <a:xfrm>
              <a:off x="9263558" y="4653930"/>
              <a:ext cx="2520280" cy="16561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Forma</a:t>
              </a:r>
            </a:p>
            <a:p>
              <a:pPr algn="ctr"/>
              <a:endParaRPr lang="pt-B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algn="ctr"/>
              <a:endParaRPr lang="pt-BR" sz="3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ACDB8E3-84D5-4BEE-AF44-92E8DF709EAB}"/>
                </a:ext>
              </a:extLst>
            </p:cNvPr>
            <p:cNvSpPr/>
            <p:nvPr/>
          </p:nvSpPr>
          <p:spPr>
            <a:xfrm>
              <a:off x="10343678" y="5374010"/>
              <a:ext cx="432000" cy="432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4AC2F00-970D-42CB-AA19-8C1C5955E7BE}"/>
                </a:ext>
              </a:extLst>
            </p:cNvPr>
            <p:cNvCxnSpPr/>
            <p:nvPr/>
          </p:nvCxnSpPr>
          <p:spPr>
            <a:xfrm>
              <a:off x="10631710" y="6062152"/>
              <a:ext cx="2160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C9321DB-9ACB-47CB-A868-8B4F3AD3FD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1670" y="6062152"/>
              <a:ext cx="21602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0287F7-6BF0-4540-A3E4-33F8AF2A2DF2}"/>
                </a:ext>
              </a:extLst>
            </p:cNvPr>
            <p:cNvSpPr txBox="1"/>
            <p:nvPr/>
          </p:nvSpPr>
          <p:spPr>
            <a:xfrm>
              <a:off x="9623598" y="5878066"/>
              <a:ext cx="72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Azul ou</a:t>
              </a:r>
            </a:p>
            <a:p>
              <a:pPr algn="ctr"/>
              <a:r>
                <a:rPr lang="pt-BR" sz="1000" dirty="0"/>
                <a:t>Círculo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D8E0DCA-643F-46D7-B773-8EAEA7FAE69F}"/>
                </a:ext>
              </a:extLst>
            </p:cNvPr>
            <p:cNvSpPr txBox="1"/>
            <p:nvPr/>
          </p:nvSpPr>
          <p:spPr>
            <a:xfrm>
              <a:off x="10775726" y="5878066"/>
              <a:ext cx="72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/>
                <a:t>Verde ou</a:t>
              </a:r>
            </a:p>
            <a:p>
              <a:pPr algn="ctr"/>
              <a:r>
                <a:rPr lang="pt-BR" sz="1000" dirty="0"/>
                <a:t>Triângulo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1174E1A-A45E-4ACB-AE85-76E20D4CE0B6}"/>
                </a:ext>
              </a:extLst>
            </p:cNvPr>
            <p:cNvSpPr/>
            <p:nvPr/>
          </p:nvSpPr>
          <p:spPr>
            <a:xfrm>
              <a:off x="6383238" y="3806707"/>
              <a:ext cx="5400600" cy="631199"/>
            </a:xfrm>
            <a:prstGeom prst="rect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i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Switch trial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314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6" name="Retângulo 9">
            <a:extLst>
              <a:ext uri="{FF2B5EF4-FFF2-40B4-BE49-F238E27FC236}">
                <a16:creationId xmlns:a16="http://schemas.microsoft.com/office/drawing/2014/main" id="{15D93EFB-509E-468F-A4DC-138E0C3BF429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Meu desempenho</a:t>
            </a:r>
            <a:endParaRPr lang="pt-BR"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ADD46-5685-4FCF-8C6F-67C7817A4D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4612"/>
            <a:ext cx="12190413" cy="451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9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2">
            <a:extLst>
              <a:ext uri="{FF2B5EF4-FFF2-40B4-BE49-F238E27FC236}">
                <a16:creationId xmlns:a16="http://schemas.microsoft.com/office/drawing/2014/main" id="{85EDB529-302B-44E0-A073-BAB7B298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572" y="26150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Plus–Minus Task</a:t>
            </a:r>
          </a:p>
        </p:txBody>
      </p:sp>
      <p:sp>
        <p:nvSpPr>
          <p:cNvPr id="156" name="Rectangle 2">
            <a:extLst>
              <a:ext uri="{FF2B5EF4-FFF2-40B4-BE49-F238E27FC236}">
                <a16:creationId xmlns:a16="http://schemas.microsoft.com/office/drawing/2014/main" id="{5908E489-2D56-4AEA-A617-81BCC85B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98158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Number–Letter Task</a:t>
            </a:r>
          </a:p>
        </p:txBody>
      </p:sp>
      <p:sp>
        <p:nvSpPr>
          <p:cNvPr id="157" name="Rectangle 2">
            <a:extLst>
              <a:ext uri="{FF2B5EF4-FFF2-40B4-BE49-F238E27FC236}">
                <a16:creationId xmlns:a16="http://schemas.microsoft.com/office/drawing/2014/main" id="{1B04D306-E308-4CC3-8144-6DECF0978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170166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Local–Global Task</a:t>
            </a:r>
          </a:p>
        </p:txBody>
      </p:sp>
      <p:sp>
        <p:nvSpPr>
          <p:cNvPr id="158" name="Rectangle 2">
            <a:extLst>
              <a:ext uri="{FF2B5EF4-FFF2-40B4-BE49-F238E27FC236}">
                <a16:creationId xmlns:a16="http://schemas.microsoft.com/office/drawing/2014/main" id="{E04A5B32-401B-4F90-9EBE-D9A2CEFC1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572" y="242174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Keep Track Task</a:t>
            </a:r>
          </a:p>
        </p:txBody>
      </p:sp>
      <p:sp>
        <p:nvSpPr>
          <p:cNvPr id="159" name="Rectangle 2">
            <a:extLst>
              <a:ext uri="{FF2B5EF4-FFF2-40B4-BE49-F238E27FC236}">
                <a16:creationId xmlns:a16="http://schemas.microsoft.com/office/drawing/2014/main" id="{C82B0B6E-73AC-4CF9-8B2C-1FCCEB396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314182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Tone Monitoring Task</a:t>
            </a:r>
          </a:p>
        </p:txBody>
      </p:sp>
      <p:sp>
        <p:nvSpPr>
          <p:cNvPr id="160" name="Rectangle 2">
            <a:extLst>
              <a:ext uri="{FF2B5EF4-FFF2-40B4-BE49-F238E27FC236}">
                <a16:creationId xmlns:a16="http://schemas.microsoft.com/office/drawing/2014/main" id="{341A6766-23B6-4F08-9BA4-785E86E63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386190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Letter Memory Task</a:t>
            </a:r>
          </a:p>
        </p:txBody>
      </p:sp>
      <p:sp>
        <p:nvSpPr>
          <p:cNvPr id="161" name="Rectangle 2">
            <a:extLst>
              <a:ext uri="{FF2B5EF4-FFF2-40B4-BE49-F238E27FC236}">
                <a16:creationId xmlns:a16="http://schemas.microsoft.com/office/drawing/2014/main" id="{DB285773-BEB9-4024-B4E2-7A0A42E7B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572" y="458198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Antissacade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Task</a:t>
            </a:r>
          </a:p>
        </p:txBody>
      </p:sp>
      <p:sp>
        <p:nvSpPr>
          <p:cNvPr id="162" name="Rectangle 2">
            <a:extLst>
              <a:ext uri="{FF2B5EF4-FFF2-40B4-BE49-F238E27FC236}">
                <a16:creationId xmlns:a16="http://schemas.microsoft.com/office/drawing/2014/main" id="{54AD2B1C-6A36-4AB9-B9A1-66C879727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530206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Stop-Signal Task</a:t>
            </a:r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C1F05522-79C5-438B-8D66-E3DC70221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155" y="6022146"/>
            <a:ext cx="3177282" cy="57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Stroop Task</a:t>
            </a:r>
          </a:p>
        </p:txBody>
      </p:sp>
      <p:sp>
        <p:nvSpPr>
          <p:cNvPr id="164" name="Oval 21">
            <a:extLst>
              <a:ext uri="{FF2B5EF4-FFF2-40B4-BE49-F238E27FC236}">
                <a16:creationId xmlns:a16="http://schemas.microsoft.com/office/drawing/2014/main" id="{FB4C12E3-30A5-4F1E-A33E-177BC0441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038" y="621482"/>
            <a:ext cx="2376264" cy="133596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Mudança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5" name="Oval 21">
            <a:extLst>
              <a:ext uri="{FF2B5EF4-FFF2-40B4-BE49-F238E27FC236}">
                <a16:creationId xmlns:a16="http://schemas.microsoft.com/office/drawing/2014/main" id="{6E773B74-71C9-48A6-BC04-EE05091EA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038" y="2781722"/>
            <a:ext cx="2376264" cy="133596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Atualização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6" name="Oval 21">
            <a:extLst>
              <a:ext uri="{FF2B5EF4-FFF2-40B4-BE49-F238E27FC236}">
                <a16:creationId xmlns:a16="http://schemas.microsoft.com/office/drawing/2014/main" id="{69F2C5BF-4CEB-4FD4-A4A6-B028F045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038" y="4902140"/>
            <a:ext cx="2376264" cy="133596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Inibição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7" name="Oval 21">
            <a:extLst>
              <a:ext uri="{FF2B5EF4-FFF2-40B4-BE49-F238E27FC236}">
                <a16:creationId xmlns:a16="http://schemas.microsoft.com/office/drawing/2014/main" id="{5B5F49A9-0109-4D87-A924-B5A75670F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558" y="2741900"/>
            <a:ext cx="2376264" cy="133596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Funções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 eaLnBrk="0" hangingPunct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Executivas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BD5A0A16-63F2-4C69-93CE-FFA66708A5AE}"/>
              </a:ext>
            </a:extLst>
          </p:cNvPr>
          <p:cNvCxnSpPr>
            <a:cxnSpLocks/>
            <a:stCxn id="164" idx="6"/>
            <a:endCxn id="156" idx="1"/>
          </p:cNvCxnSpPr>
          <p:nvPr/>
        </p:nvCxnSpPr>
        <p:spPr>
          <a:xfrm flipV="1">
            <a:off x="6959302" y="1269586"/>
            <a:ext cx="1782853" cy="19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68D136D-CDB7-4642-9555-8F91E508A7AE}"/>
              </a:ext>
            </a:extLst>
          </p:cNvPr>
          <p:cNvCxnSpPr>
            <a:cxnSpLocks/>
            <a:stCxn id="164" idx="6"/>
            <a:endCxn id="78" idx="1"/>
          </p:cNvCxnSpPr>
          <p:nvPr/>
        </p:nvCxnSpPr>
        <p:spPr>
          <a:xfrm flipV="1">
            <a:off x="6959302" y="549506"/>
            <a:ext cx="1791270" cy="739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D8E3AAAB-D76F-4E53-9C69-C8B45310E682}"/>
              </a:ext>
            </a:extLst>
          </p:cNvPr>
          <p:cNvCxnSpPr>
            <a:cxnSpLocks/>
            <a:stCxn id="164" idx="6"/>
            <a:endCxn id="157" idx="1"/>
          </p:cNvCxnSpPr>
          <p:nvPr/>
        </p:nvCxnSpPr>
        <p:spPr>
          <a:xfrm>
            <a:off x="6959302" y="1289465"/>
            <a:ext cx="1782853" cy="70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FFF30A18-FF40-4CBE-AD38-3A716880E7E1}"/>
              </a:ext>
            </a:extLst>
          </p:cNvPr>
          <p:cNvCxnSpPr>
            <a:cxnSpLocks/>
            <a:stCxn id="165" idx="6"/>
            <a:endCxn id="158" idx="1"/>
          </p:cNvCxnSpPr>
          <p:nvPr/>
        </p:nvCxnSpPr>
        <p:spPr>
          <a:xfrm flipV="1">
            <a:off x="6959302" y="2709746"/>
            <a:ext cx="1791270" cy="739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3E925A3-7966-48FA-9611-293034C0AE7E}"/>
              </a:ext>
            </a:extLst>
          </p:cNvPr>
          <p:cNvCxnSpPr>
            <a:cxnSpLocks/>
            <a:stCxn id="165" idx="6"/>
            <a:endCxn id="159" idx="1"/>
          </p:cNvCxnSpPr>
          <p:nvPr/>
        </p:nvCxnSpPr>
        <p:spPr>
          <a:xfrm flipV="1">
            <a:off x="6959302" y="3429826"/>
            <a:ext cx="1782853" cy="198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87BDBF9A-8E01-450A-A552-45464F70CCED}"/>
              </a:ext>
            </a:extLst>
          </p:cNvPr>
          <p:cNvCxnSpPr>
            <a:cxnSpLocks/>
            <a:stCxn id="165" idx="6"/>
            <a:endCxn id="160" idx="1"/>
          </p:cNvCxnSpPr>
          <p:nvPr/>
        </p:nvCxnSpPr>
        <p:spPr>
          <a:xfrm>
            <a:off x="6959302" y="3449705"/>
            <a:ext cx="1782853" cy="70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195CB058-0354-40E4-B499-90806545455D}"/>
              </a:ext>
            </a:extLst>
          </p:cNvPr>
          <p:cNvCxnSpPr>
            <a:cxnSpLocks/>
            <a:stCxn id="166" idx="6"/>
            <a:endCxn id="161" idx="1"/>
          </p:cNvCxnSpPr>
          <p:nvPr/>
        </p:nvCxnSpPr>
        <p:spPr>
          <a:xfrm flipV="1">
            <a:off x="6959302" y="4869986"/>
            <a:ext cx="1791270" cy="700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56F1DFEF-1FE5-42AF-86D3-90D270366371}"/>
              </a:ext>
            </a:extLst>
          </p:cNvPr>
          <p:cNvCxnSpPr>
            <a:cxnSpLocks/>
            <a:stCxn id="166" idx="6"/>
            <a:endCxn id="162" idx="1"/>
          </p:cNvCxnSpPr>
          <p:nvPr/>
        </p:nvCxnSpPr>
        <p:spPr>
          <a:xfrm>
            <a:off x="6959302" y="5570123"/>
            <a:ext cx="1782853" cy="19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445312FC-7C55-4869-9485-28CB6F7CD4CA}"/>
              </a:ext>
            </a:extLst>
          </p:cNvPr>
          <p:cNvCxnSpPr>
            <a:cxnSpLocks/>
            <a:stCxn id="166" idx="6"/>
            <a:endCxn id="163" idx="1"/>
          </p:cNvCxnSpPr>
          <p:nvPr/>
        </p:nvCxnSpPr>
        <p:spPr>
          <a:xfrm>
            <a:off x="6959302" y="5570123"/>
            <a:ext cx="1782853" cy="740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CDD65DEF-9BAA-4B39-B70E-250C5AD4C402}"/>
              </a:ext>
            </a:extLst>
          </p:cNvPr>
          <p:cNvCxnSpPr>
            <a:cxnSpLocks/>
            <a:stCxn id="167" idx="6"/>
            <a:endCxn id="165" idx="2"/>
          </p:cNvCxnSpPr>
          <p:nvPr/>
        </p:nvCxnSpPr>
        <p:spPr>
          <a:xfrm>
            <a:off x="2638822" y="3409883"/>
            <a:ext cx="1944216" cy="39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6FB9DAC-5718-4D7B-A1AE-870A4BC71F43}"/>
              </a:ext>
            </a:extLst>
          </p:cNvPr>
          <p:cNvCxnSpPr>
            <a:cxnSpLocks/>
            <a:stCxn id="167" idx="6"/>
          </p:cNvCxnSpPr>
          <p:nvPr/>
        </p:nvCxnSpPr>
        <p:spPr>
          <a:xfrm flipV="1">
            <a:off x="2638822" y="1557586"/>
            <a:ext cx="2016224" cy="18522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15AF3F26-659D-4F60-A681-3E44BC6351D5}"/>
              </a:ext>
            </a:extLst>
          </p:cNvPr>
          <p:cNvCxnSpPr>
            <a:cxnSpLocks/>
            <a:stCxn id="167" idx="6"/>
          </p:cNvCxnSpPr>
          <p:nvPr/>
        </p:nvCxnSpPr>
        <p:spPr>
          <a:xfrm>
            <a:off x="2638822" y="3409883"/>
            <a:ext cx="2016224" cy="1892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D2C5E74-090C-46C4-856E-4F6DE1F6CD9A}"/>
              </a:ext>
            </a:extLst>
          </p:cNvPr>
          <p:cNvSpPr/>
          <p:nvPr/>
        </p:nvSpPr>
        <p:spPr>
          <a:xfrm>
            <a:off x="46534" y="6238106"/>
            <a:ext cx="4320480" cy="36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Baseado em Miyake et al. (2000)</a:t>
            </a:r>
          </a:p>
        </p:txBody>
      </p:sp>
    </p:spTree>
    <p:extLst>
      <p:ext uri="{BB962C8B-B14F-4D97-AF65-F5344CB8AC3E}">
        <p14:creationId xmlns:p14="http://schemas.microsoft.com/office/powerpoint/2010/main" val="361937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Referências</a:t>
            </a:r>
            <a:endParaRPr lang="pt-BR" sz="25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E72C1D-5CC6-41AD-A847-9BB029A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174134"/>
            <a:ext cx="11318332" cy="5424012"/>
          </a:xfrm>
        </p:spPr>
        <p:txBody>
          <a:bodyPr>
            <a:normAutofit fontScale="85000" lnSpcReduction="20000"/>
          </a:bodyPr>
          <a:lstStyle/>
          <a:p>
            <a:pPr marL="711200" indent="-711200">
              <a:buNone/>
            </a:pPr>
            <a:r>
              <a:rPr lang="en-US" dirty="0"/>
              <a:t>Miyake, A., Friedman, N. P., Emerson, M. J., </a:t>
            </a:r>
            <a:r>
              <a:rPr lang="en-US" dirty="0" err="1"/>
              <a:t>Witzki</a:t>
            </a:r>
            <a:r>
              <a:rPr lang="en-US" dirty="0"/>
              <a:t>, A. H., </a:t>
            </a:r>
            <a:r>
              <a:rPr lang="en-US" dirty="0" err="1"/>
              <a:t>Howerter</a:t>
            </a:r>
            <a:r>
              <a:rPr lang="en-US" dirty="0"/>
              <a:t>, A., &amp; Wager, T. D. (2000). The unity and diversity of executive functions and their contributions to complex “frontal lobe” tasks: A latent variable analysis. </a:t>
            </a:r>
            <a:r>
              <a:rPr lang="en-US" i="1" dirty="0"/>
              <a:t>Cognitive Psychology</a:t>
            </a:r>
            <a:r>
              <a:rPr lang="en-US" dirty="0"/>
              <a:t>, </a:t>
            </a:r>
            <a:r>
              <a:rPr lang="en-US" i="1" dirty="0"/>
              <a:t>41</a:t>
            </a:r>
            <a:r>
              <a:rPr lang="en-US" dirty="0"/>
              <a:t>(1), 49–100. https://doi.org/10.1006/cogp.1999.0734</a:t>
            </a:r>
          </a:p>
          <a:p>
            <a:pPr marL="711200" indent="-711200">
              <a:buNone/>
            </a:pPr>
            <a:r>
              <a:rPr lang="en-US" dirty="0"/>
              <a:t>Pennington, C. R., Oxtoby, M. C.-S.-Y., &amp; Shaw, D. J. (2024). Social cognitive disruptions in multiple sclerosis: The role of executive (</a:t>
            </a:r>
            <a:r>
              <a:rPr lang="en-US" dirty="0" err="1"/>
              <a:t>dys</a:t>
            </a:r>
            <a:r>
              <a:rPr lang="en-US" dirty="0"/>
              <a:t>)function. </a:t>
            </a:r>
            <a:r>
              <a:rPr lang="en-US" i="1" dirty="0"/>
              <a:t>Neuropsychology</a:t>
            </a:r>
            <a:r>
              <a:rPr lang="en-US" dirty="0"/>
              <a:t>, </a:t>
            </a:r>
            <a:r>
              <a:rPr lang="en-US" i="1" dirty="0"/>
              <a:t>38</a:t>
            </a:r>
            <a:r>
              <a:rPr lang="en-US" dirty="0"/>
              <a:t>(2), 157–168. https://doi.org/10.1037/neu0000917</a:t>
            </a:r>
          </a:p>
          <a:p>
            <a:pPr marL="711200" indent="-711200">
              <a:buNone/>
            </a:pPr>
            <a:r>
              <a:rPr lang="en-US" dirty="0"/>
              <a:t>Sicard, V., Moore, R. D., Simard, A., Lavoie, G., &amp; </a:t>
            </a:r>
            <a:r>
              <a:rPr lang="en-US" dirty="0" err="1"/>
              <a:t>Ellemberg</a:t>
            </a:r>
            <a:r>
              <a:rPr lang="en-US" dirty="0"/>
              <a:t>, D. (2022). Psychometric properties of a color-shape version of the switch task. </a:t>
            </a:r>
            <a:r>
              <a:rPr lang="en-US" i="1" dirty="0"/>
              <a:t>Applied Neuropsychology: Adult</a:t>
            </a:r>
            <a:r>
              <a:rPr lang="en-US" dirty="0"/>
              <a:t>, </a:t>
            </a:r>
            <a:r>
              <a:rPr lang="en-US" i="1" dirty="0"/>
              <a:t>29</a:t>
            </a:r>
            <a:r>
              <a:rPr lang="en-US" dirty="0"/>
              <a:t>(5), 1020–1029. https://doi.org/10.1080/23279095.2020.1842410</a:t>
            </a:r>
          </a:p>
        </p:txBody>
      </p:sp>
    </p:spTree>
    <p:extLst>
      <p:ext uri="{BB962C8B-B14F-4D97-AF65-F5344CB8AC3E}">
        <p14:creationId xmlns:p14="http://schemas.microsoft.com/office/powerpoint/2010/main" val="642079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39369</TotalTime>
  <Words>441</Words>
  <Application>Microsoft Office PowerPoint</Application>
  <PresentationFormat>Custom</PresentationFormat>
  <Paragraphs>79</Paragraphs>
  <Slides>8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Bangers</vt:lpstr>
      <vt:lpstr>Calibri</vt:lpstr>
      <vt:lpstr>Cambria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Christensen and Wright (2010)</dc:title>
  <dc:creator>PRAXIS4</dc:creator>
  <cp:lastModifiedBy>Marcos Lima</cp:lastModifiedBy>
  <cp:revision>721</cp:revision>
  <dcterms:created xsi:type="dcterms:W3CDTF">2016-11-14T13:56:39Z</dcterms:created>
  <dcterms:modified xsi:type="dcterms:W3CDTF">2025-09-21T00:53:33Z</dcterms:modified>
</cp:coreProperties>
</file>