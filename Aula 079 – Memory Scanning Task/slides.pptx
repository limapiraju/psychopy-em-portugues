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652" r:id="rId2"/>
    <p:sldId id="656" r:id="rId3"/>
    <p:sldId id="643" r:id="rId4"/>
    <p:sldId id="657" r:id="rId5"/>
    <p:sldId id="658" r:id="rId6"/>
    <p:sldId id="642" r:id="rId7"/>
  </p:sldIdLst>
  <p:sldSz cx="12190413" cy="6859588"/>
  <p:notesSz cx="6858000" cy="9144000"/>
  <p:defaultTextStyle>
    <a:defPPr>
      <a:defRPr lang="pt-BR"/>
    </a:defPPr>
    <a:lvl1pPr marL="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FFFF66"/>
    <a:srgbClr val="FF3399"/>
    <a:srgbClr val="FF00FF"/>
    <a:srgbClr val="FFC081"/>
    <a:srgbClr val="FFCD9B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772" autoAdjust="0"/>
    <p:restoredTop sz="91129" autoAdjust="0"/>
  </p:normalViewPr>
  <p:slideViewPr>
    <p:cSldViewPr>
      <p:cViewPr varScale="1">
        <p:scale>
          <a:sx n="57" d="100"/>
          <a:sy n="57" d="100"/>
        </p:scale>
        <p:origin x="474" y="60"/>
      </p:cViewPr>
      <p:guideLst>
        <p:guide orient="horz" pos="2161"/>
        <p:guide pos="3840"/>
      </p:guideLst>
    </p:cSldViewPr>
  </p:slideViewPr>
  <p:outlineViewPr>
    <p:cViewPr>
      <p:scale>
        <a:sx n="20" d="100"/>
        <a:sy n="20" d="100"/>
      </p:scale>
      <p:origin x="0" y="0"/>
    </p:cViewPr>
    <p:sldLst>
      <p:sld r:id="rId1" collapse="1"/>
    </p:sldLst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92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BE1EB-9B3A-4F88-8981-57CAE7D022DC}" type="datetimeFigureOut">
              <a:rPr lang="pt-BR" smtClean="0"/>
              <a:pPr/>
              <a:t>30/12/2025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2B78-184E-410B-8EB3-A78D003ACCE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58763" units="1/cm"/>
          <inkml:channelProperty channel="T" name="resolution" value="1" units="1/dev"/>
        </inkml:channelProperties>
      </inkml:inkSource>
      <inkml:timestamp xml:id="ts0" timeString="2025-12-30T15:01:41.35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206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2332 2828 0,'25'0'16,"0"0"0,0 0 77,-1 0-77,1 0 0,0 0-1,0 0 1,0 0-16,-1 0 31,1 0-15,0 0-1,0 0 1,0 0 0,0 25-1,-1 0 32,1-25-47,-25 25 16,50-25-1,-50 25 1,25-25 0,-25 24 15,0 1 47,0 0-78,0 0 78,0 0-62,0-1-16,0 1 15,-25 0-15,0 0 16,0 0 0,25 0-1,-49 24 1,24-24-1,0-25 1,25 25 0,-25-25 15,0 0-15,0 0-1,1 0 1,-1 0-1,0 0 1,0 0 31,50 0 234,0 0-281,0 0 31,-1 0-15,1 0 0,0 0-16,-25 25 31,25-25-15,0 0-1,-25 24-15,25-24 16,-1 25-1,-24 0-15,25-25 16,0 25 0,25 24-1,-50-24 1,0 25 15,24-25-15,-24 0 31,0-1-32,0 1 1,0 0 0,0 25-1,-49-1 1,24-24-1,-25-25 1,26 25 0,-26-25-1,-25 0 1,1 49 0,24-49-1,26 0 1,-1 0-1,0 0 1,0 0 62,0 0-62,1 0-1</inkml:trace>
  <inkml:trace contextRef="#ctx0" brushRef="#br0" timeOffset="2895.15">5384 2779 0,'-25'0'94,"0"0"-78,0 0-1,-24 0-15,24 0 16,-25 0-16,-98 0 31,73 0 0,50 0-15,0 0 0,1 0-1,-1 0 48,0 0-63,0 0 15,0 0 1,25 25 218,-24-1-218,24 1-16,0 25 16,0-25-1,0 24 1,0-24 0,0 0 15,0 0-16,0-1 1,0 26-16,0-25 16,-25-25-1,25 25 1,25-25 234,-1 0-250,1 0 16,0 0-1,0 0 1,0 0-16,74 0 15,-49 0 1,49 0 0,0 0-1,-74 0 17,0 0 14,-1 0-30,1 0 15,-25 25 1,25-1-32,-25 1 15,0 25 1,25-25-1,-25 24-15,0-24 16,0 0-16,0 0 16,0-1-16,0 26 15,0 0 1,0-25 0,-25-1 15,0 1 0,25 0-31,-25-25 16,1 25-1,-1 0 17,0-25-32,-25 0 15,1 0 1,-50 0-1,-26 0 1,51 0 0,0 0-1,49 0 1,0 0 15,0 0-15,0 0 15,25-25-15,-24 25-16</inkml:trace>
  <inkml:trace contextRef="#ctx0" brushRef="#br0" timeOffset="5333.35">7617 2928 0,'0'-25'31,"0"0"16,0 0-31,-25 25-16,0 0 15,0-25 1,1 25 0,-26-24-1,0-1 1,26 25-1,-1-25 1,-25 25 0,25 0-16,0 0 15,-49 0 1,49 0 0,-24 0 30,-51 25-30,51 24 0,24-24-16,0-25 15,25 25 17,-25 0-17,25 24-15,-24 26 16,24-26-1,0 1 1,0-25 0,0 0-1,0 0-15,24-1 47,1-24-31,0 0-16,0 25 31,0 0-15,24-25-1,1 0-15,-50 25 16,74-25 0,-24 0-1,-1 0 1,1 0-1,0-50 1,-25 50 0,-1-25-1,-24 1 1,25-26 15,-25 0-15,0 25 15,25 1-15,-25-1-1,0 0 1,0 0 62,0 0-78,0 50 125,0 0-125,0 0 16,0 0-1,0-1 1,0 26-16,0 0 16,0-25-1,0 24 1,0-24-16,0 0 15,0 24 1,0-24 0,25 0-1,-25 25 1,25-1 15,-25-24-31,0 25 31,0-25-31,0-1 32,0 1-17,0 0 1,24-25 0,-48-25 249,24 0-265,-50-24 16</inkml:trace>
  <inkml:trace contextRef="#ctx0" brushRef="#br0" timeOffset="6848.05">9403 2729 0,'0'25'31,"25"-25"-15,-25 25-1,25-25 1,-25 25-16,0 24 16,0 26-1,0-26 1,0 75 0,0 0-16,0-74 31,0 0-16,0-26 1,0 1 0,0 0 31,0 0-32,25-25 126,-1 0-94,1 0-47,25 0 0,-1 0 15,26 0 1,-25 0-16,24-75 16,25 75-1,-24-24 1,-1-1-1,1 25 1,-1 0 0,-24-50-1,-26 50 1,1 0 0,25 0 15,-25 0-16,-25-25 79,0 1-78,0-26-16,0 25 0</inkml:trace>
  <inkml:trace contextRef="#ctx0" brushRef="#br0" timeOffset="7888.51">10247 2729 0,'0'50'47,"0"-25"-47,0 24 15,25 26 1,-25 49 0,0 25-1,0-75-15,0-49 16,0 74-1,0-74 1,24 0 0,-24-1-1,25 26 1,-25-25 15,0 0 16,25-25-31,-25 25-1,0-1 17,0 1 14,0 0-46,0 0 16,0 0 0,-50-50 234,1 0-235</inkml:trace>
  <inkml:trace contextRef="#ctx0" brushRef="#br1" timeOffset="60210.98">11959 3101 0,'0'25'94,"0"0"-94,0 74 15,0-74 1,0 25-16,0 49 15,0 0 1,0 25 0,49-25-1,-24-24 1,-25-1 0,25 1 15,0-1-31,-25 1 31,0-51-15,0 51-1,0-50-15,0 24 16,0 1 0,0-1 15,25-49 172,-1 0-172,1 0-31,50 0 16,-1 0-16,25 0 15,50 0 1,-25 0 0,-74 0-16,24 0 15,-24 0 1,-1 0 0,1 0-16,99 0 31,-50 0-16,25 0 1,-24 0 0,-76 0 15,26 0-15,-25 0-1,0 0 32,-25-24 0,24-1 109,-24 0-156,25-25 16,-25 1-1,25 24 1,0-74 0,-25 24-1,0-24 1,0 49 0,0-24-1,0 49 1,0 0-1,0 1 1,0-26 0,0 0-16,0 26 15,0-26 1,0 25 0,0 0-1,0-49 1,0 49-1,0 0 1,0 0 0,0-24-1,0-1 1,0 25-16,0 1 47,0-1-47,0 0 31,0-25-15,0 25-1,0 1 1,0-1 15,0 0-15,-25 0-1,0 0 1,0 25 0,-24-24-1,24 24 1,0-50 0,-24 50-1,24 0 16,0 0-15,0-25 0,0 25-16,0 0 15,-24 0 1,24 0 0,-49 0-1,-50 0 1,99 0-16,0 0 15,-25 0-15,-49 0 16,49 25 0,-74-25-1,50 0 17,24 0-32,1 0 15,-1 25 1,-49 0-1,0-25 1,74 0 15,0 0-31,0 0 16,0 0 15</inkml:trace>
  <inkml:trace contextRef="#ctx0" brushRef="#br2" timeOffset="138043.38">11115 7691 0,'-25'0'78,"1"0"-62,-26 0-16,25 0 15,0 0 1,0 0-16,1 25 31,-1-25-15,25 25-1,-25-25 17,25 25-32,-25-25 15</inkml:trace>
  <inkml:trace contextRef="#ctx0" brushRef="#br2" timeOffset="140043.14">11115 7666 0,'25'0'16,"0"25"-16,0 0 31,-25 0-31,0 0 16,24 74-1,1 0 16,-25 25-15,25-74 0,0-1-16,0-24 15,-25 0-15,0 0 16,24 24 0,-24 51-1,0-26 1,0-24-1,0-1 1,0 51 0,0-26-1,0 25 1,0 25 0,0-24 15,0-51-31,0 1 15,0 24 1,0 26 0,0 24-1,0-25 1,0 0 0,25 25-1,25 25 1,-50-50-1,25-49 1,-25-25 0,0 24-1,0 1 1,0 24 0,0 1-1,0-50 1,24 24-1,-24-24 1,0 25 0,0-1-1,0 1 1,-24-50 156,-1 0-172,0-25 15,0 25 1,-24 0 0,-1 0-1,0 0 1,-24 0 0,24 0-1</inkml:trace>
  <inkml:trace contextRef="#ctx0" brushRef="#br2" timeOffset="144754.79">6476 11065 0,'24'0'16,"1"0"62,25 0-47,-25 0-15,-1 0-16,51 25 16,-26-25-1,-24 0 1,-25 25 0,25-25-1,0 25 110,0-25-125,-25 25 16,0 0-1,0-1-15,0 26 16,49 74 0,-49-25-1,0-49 1,0 24 15,0-24-31,0-25 31,0 0-15,0-1 62,0 1-62,0 0-1,0 0-15,0 0 16,-24-25 312,-1 0-297,0 0-15,-25 24 0,1 1-1,-26 0 1,-24 0 0,0 24-1,24 1 1,26-25-1,-1-25 1,25 0 0,25 25 77</inkml:trace>
  <inkml:trace contextRef="#ctx0" brushRef="#br1" timeOffset="-122864.2">13224 3101 0,'-25'0'78,"0"0"-63,1 0 1,-1 0 0,-25 0-1,25 0 1,-24 0-16,-1 0 15,0 0 1,1 0 0,-1 0 46,25 0-46,-24 0-1,24 0 95,25 25 312,0 0-375,0 0-32,-25 0 1,25-1-16,-25 1 15,25 25 1,0-25-16,-24-1 31,-1 1 32,25 0-48,0 0 1,-25 0 15,25-1-15,25-24 187,0 0-187,-1-49-1,1 49-15,0-50 16,0 50 31,0 0-32,24-25-15,-24 25 16,0-24 0,0 24-1,-1 0 1,1 0 15,0 0 0,0 0-15,0 0 0,0 0-1,-1 0 1,1 24 0,0 1-1,0-25 1,-25 25-1,49 0 1,-49 0 0,25-25 15,-25 24-15,0 1-16,0 0 15,25-25 1,-25 25-1,0 0 1,0 0 0,0-1-1,0 51 1,0-50 0,0 24-1,0-24 1,0 0 46,-25-25-15,-24 25-31,24-1-1,0-24 1,0 0 0,-24 0-1,-26 0 1,25 0 0,26 0-16,-26 0 15,-24 25 1,24-25-1,25 0 1,0 0 15,1 0-15,24 25 0,-50-25-1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A2CC-C870-4222-8082-713A11CF2FEE}" type="datetimeFigureOut">
              <a:rPr lang="pt-BR" smtClean="0"/>
              <a:pPr/>
              <a:t>30/12/2025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40EBA5-ED71-45A1-8B2B-DE2576D0704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50787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101576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52363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203152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53939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304728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555159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4063040" algn="l" defTabSz="101576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5734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23577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1897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82744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21851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40EBA5-ED71-45A1-8B2B-DE2576D07047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92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14281" y="2130922"/>
            <a:ext cx="10361851" cy="147036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563" y="3887100"/>
            <a:ext cx="8533289" cy="175300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8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7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6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3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EC2E5-5F2E-41F9-A0FB-F6B6A2395976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D261-2523-45FF-8ED1-0BCB69162581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2959" y="4407924"/>
            <a:ext cx="10361851" cy="1362390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62959" y="2907388"/>
            <a:ext cx="10361851" cy="1500534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0787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576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363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3152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3939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4728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5515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630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026C-6155-4932-A819-C07131495285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09522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96795" y="1600573"/>
            <a:ext cx="5384099" cy="4527011"/>
          </a:xfrm>
        </p:spPr>
        <p:txBody>
          <a:bodyPr/>
          <a:lstStyle>
            <a:lvl1pPr>
              <a:defRPr sz="3100"/>
            </a:lvl1pPr>
            <a:lvl2pPr>
              <a:defRPr sz="27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AD34F-8B2C-45E7-98CE-F7ED66FA1B80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535471"/>
            <a:ext cx="5386216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09522" y="2175380"/>
            <a:ext cx="5386216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92565" y="1535471"/>
            <a:ext cx="5388332" cy="63991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07879" indent="0">
              <a:buNone/>
              <a:defRPr sz="2300" b="1"/>
            </a:lvl2pPr>
            <a:lvl3pPr marL="1015760" indent="0">
              <a:buNone/>
              <a:defRPr sz="2000" b="1"/>
            </a:lvl3pPr>
            <a:lvl4pPr marL="1523639" indent="0">
              <a:buNone/>
              <a:defRPr sz="1800" b="1"/>
            </a:lvl4pPr>
            <a:lvl5pPr marL="2031520" indent="0">
              <a:buNone/>
              <a:defRPr sz="1800" b="1"/>
            </a:lvl5pPr>
            <a:lvl6pPr marL="2539399" indent="0">
              <a:buNone/>
              <a:defRPr sz="1800" b="1"/>
            </a:lvl6pPr>
            <a:lvl7pPr marL="3047280" indent="0">
              <a:buNone/>
              <a:defRPr sz="1800" b="1"/>
            </a:lvl7pPr>
            <a:lvl8pPr marL="3555159" indent="0">
              <a:buNone/>
              <a:defRPr sz="1800" b="1"/>
            </a:lvl8pPr>
            <a:lvl9pPr marL="4063040" indent="0">
              <a:buNone/>
              <a:defRPr sz="18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92565" y="2175380"/>
            <a:ext cx="5388332" cy="3952203"/>
          </a:xfrm>
        </p:spPr>
        <p:txBody>
          <a:bodyPr/>
          <a:lstStyle>
            <a:lvl1pPr>
              <a:defRPr sz="2700"/>
            </a:lvl1pPr>
            <a:lvl2pPr>
              <a:defRPr sz="23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FB13-4A75-42B7-90FC-4FF930268F62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2C7D3-B9EE-4353-80CB-4E628B094EA8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270A78-9207-4F09-A348-718AD96E4D93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525" y="273115"/>
            <a:ext cx="4010562" cy="116232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66113" y="273118"/>
            <a:ext cx="6814779" cy="5854468"/>
          </a:xfrm>
        </p:spPr>
        <p:txBody>
          <a:bodyPr/>
          <a:lstStyle>
            <a:lvl1pPr>
              <a:defRPr sz="3600"/>
            </a:lvl1pPr>
            <a:lvl2pPr>
              <a:defRPr sz="31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525" y="1435437"/>
            <a:ext cx="4010562" cy="46921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8F061-2354-4E7B-9294-11A163B323B2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406" y="4801714"/>
            <a:ext cx="7314248" cy="566870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389406" y="612917"/>
            <a:ext cx="7314248" cy="4115753"/>
          </a:xfrm>
        </p:spPr>
        <p:txBody>
          <a:bodyPr/>
          <a:lstStyle>
            <a:lvl1pPr marL="0" indent="0">
              <a:buNone/>
              <a:defRPr sz="3600"/>
            </a:lvl1pPr>
            <a:lvl2pPr marL="507879" indent="0">
              <a:buNone/>
              <a:defRPr sz="3100"/>
            </a:lvl2pPr>
            <a:lvl3pPr marL="1015760" indent="0">
              <a:buNone/>
              <a:defRPr sz="2700"/>
            </a:lvl3pPr>
            <a:lvl4pPr marL="1523639" indent="0">
              <a:buNone/>
              <a:defRPr sz="2300"/>
            </a:lvl4pPr>
            <a:lvl5pPr marL="2031520" indent="0">
              <a:buNone/>
              <a:defRPr sz="2300"/>
            </a:lvl5pPr>
            <a:lvl6pPr marL="2539399" indent="0">
              <a:buNone/>
              <a:defRPr sz="2300"/>
            </a:lvl6pPr>
            <a:lvl7pPr marL="3047280" indent="0">
              <a:buNone/>
              <a:defRPr sz="2300"/>
            </a:lvl7pPr>
            <a:lvl8pPr marL="3555159" indent="0">
              <a:buNone/>
              <a:defRPr sz="2300"/>
            </a:lvl8pPr>
            <a:lvl9pPr marL="4063040" indent="0">
              <a:buNone/>
              <a:defRPr sz="23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2389406" y="5368584"/>
            <a:ext cx="7314248" cy="805049"/>
          </a:xfrm>
        </p:spPr>
        <p:txBody>
          <a:bodyPr/>
          <a:lstStyle>
            <a:lvl1pPr marL="0" indent="0">
              <a:buNone/>
              <a:defRPr sz="1500"/>
            </a:lvl1pPr>
            <a:lvl2pPr marL="507879" indent="0">
              <a:buNone/>
              <a:defRPr sz="1300"/>
            </a:lvl2pPr>
            <a:lvl3pPr marL="1015760" indent="0">
              <a:buNone/>
              <a:defRPr sz="1100"/>
            </a:lvl3pPr>
            <a:lvl4pPr marL="1523639" indent="0">
              <a:buNone/>
              <a:defRPr sz="1000"/>
            </a:lvl4pPr>
            <a:lvl5pPr marL="2031520" indent="0">
              <a:buNone/>
              <a:defRPr sz="1000"/>
            </a:lvl5pPr>
            <a:lvl6pPr marL="2539399" indent="0">
              <a:buNone/>
              <a:defRPr sz="1000"/>
            </a:lvl6pPr>
            <a:lvl7pPr marL="3047280" indent="0">
              <a:buNone/>
              <a:defRPr sz="1000"/>
            </a:lvl7pPr>
            <a:lvl8pPr marL="3555159" indent="0">
              <a:buNone/>
              <a:defRPr sz="1000"/>
            </a:lvl8pPr>
            <a:lvl9pPr marL="4063040" indent="0">
              <a:buNone/>
              <a:defRPr sz="10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7B3E-F030-42B0-83BA-8AE4FBEC2267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D1F0EE-6503-4E8F-A013-CFD41AFB6EA6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8051" y="274705"/>
            <a:ext cx="2742843" cy="585288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09521" y="274705"/>
            <a:ext cx="8025355" cy="585288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FAD86-4BE5-4079-9D68-EB0FF3EB9B8E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609522" y="274702"/>
            <a:ext cx="10971372" cy="1143265"/>
          </a:xfrm>
          <a:prstGeom prst="rect">
            <a:avLst/>
          </a:prstGeom>
        </p:spPr>
        <p:txBody>
          <a:bodyPr vert="horz" lIns="101576" tIns="50788" rIns="101576" bIns="50788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09522" y="1600573"/>
            <a:ext cx="10971372" cy="4527011"/>
          </a:xfrm>
          <a:prstGeom prst="rect">
            <a:avLst/>
          </a:prstGeom>
        </p:spPr>
        <p:txBody>
          <a:bodyPr vert="horz" lIns="101576" tIns="50788" rIns="101576" bIns="50788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609521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8A825-296A-4964-85BE-4EAB02630B2E}" type="datetime1">
              <a:rPr lang="pt-BR" smtClean="0"/>
              <a:pPr/>
              <a:t>30/12/2025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165059" y="6357824"/>
            <a:ext cx="3860297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Conway et al. (2005)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736463" y="6357824"/>
            <a:ext cx="2844430" cy="365210"/>
          </a:xfrm>
          <a:prstGeom prst="rect">
            <a:avLst/>
          </a:prstGeom>
        </p:spPr>
        <p:txBody>
          <a:bodyPr vert="horz" lIns="101576" tIns="50788" rIns="101576" bIns="5078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2B0E9-E11E-4917-A8BB-33D449F2932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101576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0910" indent="-380910" algn="l" defTabSz="1015760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25306" indent="-317425" algn="l" defTabSz="1015760" rtl="0" eaLnBrk="1" latinLnBrk="0" hangingPunct="1">
        <a:spcBef>
          <a:spcPct val="20000"/>
        </a:spcBef>
        <a:buFont typeface="Arial" pitchFamily="34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697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777580" indent="-253940" algn="l" defTabSz="1015760" rtl="0" eaLnBrk="1" latinLnBrk="0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85460" indent="-253940" algn="l" defTabSz="1015760" rtl="0" eaLnBrk="1" latinLnBrk="0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79334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0122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10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16980" indent="-253940" algn="l" defTabSz="1015760" rtl="0" eaLnBrk="1" latinLnBrk="0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787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576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363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152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3939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4728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55159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63040" algn="l" defTabSz="101576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/>
          <p:cNvSpPr>
            <a:spLocks noChangeArrowheads="1"/>
          </p:cNvSpPr>
          <p:nvPr/>
        </p:nvSpPr>
        <p:spPr bwMode="auto">
          <a:xfrm>
            <a:off x="2" y="1"/>
            <a:ext cx="205201" cy="410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01576" tIns="50788" rIns="101576" bIns="50788" anchor="ctr">
            <a:prstTxWarp prst="textNoShape">
              <a:avLst/>
            </a:prstTxWarp>
            <a:spAutoFit/>
          </a:bodyPr>
          <a:lstStyle/>
          <a:p>
            <a:endParaRPr lang="pt-BR" dirty="0"/>
          </a:p>
        </p:txBody>
      </p:sp>
      <p:sp>
        <p:nvSpPr>
          <p:cNvPr id="15" name="Elipse 5"/>
          <p:cNvSpPr/>
          <p:nvPr/>
        </p:nvSpPr>
        <p:spPr>
          <a:xfrm>
            <a:off x="11142720" y="6359400"/>
            <a:ext cx="570960" cy="428400"/>
          </a:xfrm>
          <a:prstGeom prst="ellipse">
            <a:avLst/>
          </a:prstGeom>
          <a:solidFill>
            <a:schemeClr val="bg1"/>
          </a:solidFill>
          <a:ln>
            <a:solidFill>
              <a:srgbClr val="FFFFFF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251" y="0"/>
            <a:ext cx="12218211" cy="6859588"/>
          </a:xfrm>
          <a:prstGeom prst="rect">
            <a:avLst/>
          </a:prstGeom>
        </p:spPr>
      </p:pic>
      <p:sp>
        <p:nvSpPr>
          <p:cNvPr id="14" name="PlaceHolder 1"/>
          <p:cNvSpPr txBox="1">
            <a:spLocks/>
          </p:cNvSpPr>
          <p:nvPr/>
        </p:nvSpPr>
        <p:spPr>
          <a:xfrm rot="21346946">
            <a:off x="354442" y="2568761"/>
            <a:ext cx="8058167" cy="3855620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000" spc="-1" dirty="0">
                <a:ln w="28575">
                  <a:solidFill>
                    <a:schemeClr val="tx1"/>
                  </a:solidFill>
                </a:ln>
                <a:solidFill>
                  <a:schemeClr val="bg1"/>
                </a:solidFill>
                <a:latin typeface="Bangers" panose="00000500000000000000" pitchFamily="2" charset="0"/>
                <a:ea typeface="+mj-ea"/>
                <a:cs typeface="+mj-cs"/>
              </a:rPr>
              <a:t>MEMORY SCANNING TASK</a:t>
            </a:r>
            <a:endParaRPr kumimoji="0" lang="pt-BR" sz="10000" i="0" u="none" strike="noStrike" kern="1200" cap="none" spc="-1" normalizeH="0" baseline="0" noProof="0" dirty="0">
              <a:ln w="28575"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Bangers" panose="00000500000000000000" pitchFamily="2" charset="0"/>
              <a:ea typeface="+mj-ea"/>
              <a:cs typeface="+mj-cs"/>
            </a:endParaRPr>
          </a:p>
        </p:txBody>
      </p:sp>
      <p:sp>
        <p:nvSpPr>
          <p:cNvPr id="8" name="PlaceHolder 1"/>
          <p:cNvSpPr txBox="1">
            <a:spLocks/>
          </p:cNvSpPr>
          <p:nvPr/>
        </p:nvSpPr>
        <p:spPr>
          <a:xfrm rot="21346946">
            <a:off x="338944" y="817788"/>
            <a:ext cx="7383179" cy="2349126"/>
          </a:xfrm>
          <a:prstGeom prst="rect">
            <a:avLst/>
          </a:prstGeom>
          <a:noFill/>
          <a:ln w="0">
            <a:noFill/>
          </a:ln>
        </p:spPr>
        <p:txBody>
          <a:bodyPr vert="horz" lIns="101520" tIns="50760" rIns="101520" bIns="50760" rtlCol="0" anchor="ctr">
            <a:normAutofit/>
          </a:bodyPr>
          <a:lstStyle/>
          <a:p>
            <a:pPr marL="0" marR="0" lvl="0" indent="0" algn="ctr" defTabSz="101576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0000" i="0" u="none" strike="noStrike" kern="1200" cap="none" spc="-1" normalizeH="0" baseline="0" noProof="0" dirty="0">
                <a:ln w="28575">
                  <a:solidFill>
                    <a:schemeClr val="tx1"/>
                  </a:solidFill>
                </a:ln>
                <a:solidFill>
                  <a:srgbClr val="FFFF66"/>
                </a:solidFill>
                <a:effectLst/>
                <a:uLnTx/>
                <a:uFillTx/>
                <a:latin typeface="Bangers" panose="00000500000000000000" pitchFamily="2" charset="0"/>
                <a:ea typeface="+mj-ea"/>
                <a:cs typeface="+mj-cs"/>
              </a:rPr>
              <a:t>AULA 079</a:t>
            </a:r>
          </a:p>
        </p:txBody>
      </p:sp>
    </p:spTree>
    <p:extLst>
      <p:ext uri="{BB962C8B-B14F-4D97-AF65-F5344CB8AC3E}">
        <p14:creationId xmlns:p14="http://schemas.microsoft.com/office/powerpoint/2010/main" val="409638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9" name="Retângulo 9">
            <a:extLst>
              <a:ext uri="{FF2B5EF4-FFF2-40B4-BE49-F238E27FC236}">
                <a16:creationId xmlns:a16="http://schemas.microsoft.com/office/drawing/2014/main" id="{1342A9E3-06AB-4174-B720-E7B4C82BCF7C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i="1" dirty="0"/>
              <a:t>Memory scanning task</a:t>
            </a:r>
            <a:r>
              <a:rPr lang="en-US" sz="4000" dirty="0"/>
              <a:t> </a:t>
            </a:r>
            <a:r>
              <a:rPr lang="pt-BR" sz="2500" dirty="0"/>
              <a:t>(S. Sternberg, 1966)</a:t>
            </a:r>
            <a:endParaRPr lang="pt-BR" sz="2500" i="1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CEF816C-7B62-4D89-B8EE-E02871568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1802" y="1557586"/>
            <a:ext cx="2784091" cy="384173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013E165-EDEE-412C-B322-6DAEE5797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66" y="3020443"/>
            <a:ext cx="8981184" cy="24255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01C59DCD-D56B-47ED-948A-B8A31FD238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4926" y="1724299"/>
            <a:ext cx="2551802" cy="92946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2EDE1523-E8AC-49AA-B729-231B245ED701}"/>
              </a:ext>
            </a:extLst>
          </p:cNvPr>
          <p:cNvSpPr txBox="1"/>
          <p:nvPr/>
        </p:nvSpPr>
        <p:spPr>
          <a:xfrm>
            <a:off x="9263558" y="5519187"/>
            <a:ext cx="28444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i="1" dirty="0"/>
              <a:t>Saul Sternberg</a:t>
            </a:r>
          </a:p>
        </p:txBody>
      </p:sp>
    </p:spTree>
    <p:extLst>
      <p:ext uri="{BB962C8B-B14F-4D97-AF65-F5344CB8AC3E}">
        <p14:creationId xmlns:p14="http://schemas.microsoft.com/office/powerpoint/2010/main" val="423526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3</a:t>
            </a:fld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197546"/>
            <a:ext cx="11318332" cy="5328592"/>
          </a:xfrm>
        </p:spPr>
        <p:txBody>
          <a:bodyPr>
            <a:normAutofit/>
          </a:bodyPr>
          <a:lstStyle/>
          <a:p>
            <a:r>
              <a:rPr lang="pt-BR" i="1" dirty="0">
                <a:solidFill>
                  <a:srgbClr val="002060"/>
                </a:solidFill>
              </a:rPr>
              <a:t>Descrição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Tarefa de escaneamento de memória</a:t>
            </a:r>
          </a:p>
          <a:p>
            <a:pPr lvl="1"/>
            <a:r>
              <a:rPr lang="pt-BR" dirty="0"/>
              <a:t>Essencialmente, um teste de reconhecimento de memória de curto prazo</a:t>
            </a:r>
          </a:p>
          <a:p>
            <a:r>
              <a:rPr lang="pt-BR" i="1" dirty="0">
                <a:solidFill>
                  <a:srgbClr val="002060"/>
                </a:solidFill>
              </a:rPr>
              <a:t>Tarefa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Sequência de 1 a 6 dígitos (e.g., </a:t>
            </a:r>
            <a:r>
              <a:rPr lang="pt-BR" i="1" dirty="0"/>
              <a:t>1 – 5 – 9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Item de sondagem </a:t>
            </a:r>
            <a:r>
              <a:rPr lang="pt-BR" i="1" dirty="0"/>
              <a:t>presente</a:t>
            </a:r>
            <a:r>
              <a:rPr lang="pt-BR" dirty="0"/>
              <a:t> (e.g., 5) ou </a:t>
            </a:r>
            <a:r>
              <a:rPr lang="pt-BR" i="1" dirty="0"/>
              <a:t>ausente</a:t>
            </a:r>
            <a:r>
              <a:rPr lang="pt-BR" dirty="0"/>
              <a:t> (e.g., 8)</a:t>
            </a:r>
          </a:p>
          <a:p>
            <a:pPr lvl="1"/>
            <a:r>
              <a:rPr lang="pt-BR" dirty="0"/>
              <a:t>Participante deve responder, o mais acurada e rapidamente possível, se item de sondagem apareceu na sequência anterior</a:t>
            </a:r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49FD55D-DE65-49D6-AC80-659BE359BDF4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i="1" dirty="0"/>
              <a:t>Memory scanning task</a:t>
            </a:r>
            <a:r>
              <a:rPr lang="en-US" sz="4000" dirty="0"/>
              <a:t> </a:t>
            </a:r>
            <a:r>
              <a:rPr lang="pt-BR" sz="2500" dirty="0"/>
              <a:t>(S. Sternberg, 1966)</a:t>
            </a:r>
            <a:endParaRPr lang="pt-BR" sz="2500" i="1" dirty="0"/>
          </a:p>
        </p:txBody>
      </p:sp>
    </p:spTree>
    <p:extLst>
      <p:ext uri="{BB962C8B-B14F-4D97-AF65-F5344CB8AC3E}">
        <p14:creationId xmlns:p14="http://schemas.microsoft.com/office/powerpoint/2010/main" val="480939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4</a:t>
            </a:fld>
            <a:endParaRPr lang="pt-BR" dirty="0"/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49FD55D-DE65-49D6-AC80-659BE359BDF4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i="1" dirty="0"/>
              <a:t>Memory scanning task</a:t>
            </a:r>
            <a:r>
              <a:rPr lang="en-US" sz="4000" dirty="0"/>
              <a:t> </a:t>
            </a:r>
            <a:r>
              <a:rPr lang="pt-BR" sz="2500" dirty="0"/>
              <a:t>(S. Sternberg, 1966)</a:t>
            </a:r>
            <a:endParaRPr lang="pt-BR" sz="2500" i="1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A1D84BEB-1F2B-48A0-A722-05AB0BE449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34" y="1381835"/>
            <a:ext cx="12025336" cy="4856271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242892B3-3668-4919-9219-5543AF3096FD}"/>
              </a:ext>
            </a:extLst>
          </p:cNvPr>
          <p:cNvSpPr/>
          <p:nvPr/>
        </p:nvSpPr>
        <p:spPr>
          <a:xfrm>
            <a:off x="8111430" y="1381835"/>
            <a:ext cx="4078983" cy="4856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501A77B1-588E-4D7D-BB8B-4626EC72C95C}"/>
              </a:ext>
            </a:extLst>
          </p:cNvPr>
          <p:cNvSpPr/>
          <p:nvPr/>
        </p:nvSpPr>
        <p:spPr>
          <a:xfrm>
            <a:off x="4222998" y="1341562"/>
            <a:ext cx="3888432" cy="4856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F238463-2CC5-42C8-8FA9-9D381FF8F45C}"/>
              </a:ext>
            </a:extLst>
          </p:cNvPr>
          <p:cNvSpPr/>
          <p:nvPr/>
        </p:nvSpPr>
        <p:spPr>
          <a:xfrm>
            <a:off x="46533" y="1269554"/>
            <a:ext cx="4176465" cy="48562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073575D3-0D7D-4454-A7DF-A20EAE56CAC5}"/>
                  </a:ext>
                </a:extLst>
              </p14:cNvPr>
              <p14:cNvContentPartPr/>
              <p14:nvPr/>
            </p14:nvContentPartPr>
            <p14:xfrm>
              <a:off x="821880" y="982440"/>
              <a:ext cx="4091040" cy="336780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073575D3-0D7D-4454-A7DF-A20EAE56CAC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12520" y="973080"/>
                <a:ext cx="4109760" cy="338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0536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5</a:t>
            </a:fld>
            <a:endParaRPr lang="pt-BR" dirty="0"/>
          </a:p>
        </p:txBody>
      </p:sp>
      <p:sp>
        <p:nvSpPr>
          <p:cNvPr id="6" name="Retângulo 9">
            <a:extLst>
              <a:ext uri="{FF2B5EF4-FFF2-40B4-BE49-F238E27FC236}">
                <a16:creationId xmlns:a16="http://schemas.microsoft.com/office/drawing/2014/main" id="{149FD55D-DE65-49D6-AC80-659BE359BDF4}"/>
              </a:ext>
            </a:extLst>
          </p:cNvPr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i="1" dirty="0"/>
              <a:t>Memory scanning task</a:t>
            </a:r>
            <a:r>
              <a:rPr lang="en-US" sz="4000" dirty="0"/>
              <a:t> </a:t>
            </a:r>
            <a:r>
              <a:rPr lang="pt-BR" sz="2500" dirty="0"/>
              <a:t>(S. Sternberg, 1966)</a:t>
            </a:r>
            <a:endParaRPr lang="pt-BR" sz="2500" i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CF41A4-8418-4BB4-A766-4105948134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14" y="1137512"/>
            <a:ext cx="4896544" cy="502858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F6BB7B1-4A80-4EC7-A1AD-93D08ECF9E75}"/>
              </a:ext>
            </a:extLst>
          </p:cNvPr>
          <p:cNvSpPr txBox="1"/>
          <p:nvPr/>
        </p:nvSpPr>
        <p:spPr>
          <a:xfrm>
            <a:off x="105463" y="6311275"/>
            <a:ext cx="57017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i="1" dirty="0">
                <a:solidFill>
                  <a:schemeClr val="bg1">
                    <a:lumMod val="50000"/>
                  </a:schemeClr>
                </a:solidFill>
              </a:rPr>
              <a:t>Fonte: </a:t>
            </a:r>
            <a:r>
              <a:rPr lang="pt-BR" sz="2200" i="1" dirty="0" err="1">
                <a:solidFill>
                  <a:schemeClr val="bg1">
                    <a:lumMod val="50000"/>
                  </a:schemeClr>
                </a:solidFill>
              </a:rPr>
              <a:t>Willingham</a:t>
            </a:r>
            <a:r>
              <a:rPr lang="pt-BR" sz="2200" i="1" dirty="0">
                <a:solidFill>
                  <a:schemeClr val="bg1">
                    <a:lumMod val="50000"/>
                  </a:schemeClr>
                </a:solidFill>
              </a:rPr>
              <a:t> (2013), S. Sternberg (1966)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874E5A4-966E-4860-86DE-EF1FFA05E8AC}"/>
              </a:ext>
            </a:extLst>
          </p:cNvPr>
          <p:cNvSpPr txBox="1"/>
          <p:nvPr/>
        </p:nvSpPr>
        <p:spPr>
          <a:xfrm>
            <a:off x="6023198" y="6299301"/>
            <a:ext cx="61206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i="1" dirty="0">
                <a:solidFill>
                  <a:schemeClr val="bg1">
                    <a:lumMod val="50000"/>
                  </a:schemeClr>
                </a:solidFill>
              </a:rPr>
              <a:t>Fonte: Eu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A6C99F5-2842-4FD0-8E9A-CAD62C45EF9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166" y="1833370"/>
            <a:ext cx="6380988" cy="404469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2FA92324-14A0-47A1-8A6C-873728990943}"/>
              </a:ext>
            </a:extLst>
          </p:cNvPr>
          <p:cNvSpPr/>
          <p:nvPr/>
        </p:nvSpPr>
        <p:spPr>
          <a:xfrm>
            <a:off x="46533" y="1053530"/>
            <a:ext cx="5616625" cy="5669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C6147C0E-2F94-4EED-A1E5-1F3C651FF126}"/>
              </a:ext>
            </a:extLst>
          </p:cNvPr>
          <p:cNvSpPr/>
          <p:nvPr/>
        </p:nvSpPr>
        <p:spPr>
          <a:xfrm>
            <a:off x="5807174" y="1053530"/>
            <a:ext cx="6308980" cy="56695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673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2B0E9-E11E-4917-A8BB-33D449F29326}" type="slidenum">
              <a:rPr lang="pt-BR" smtClean="0"/>
              <a:pPr/>
              <a:t>6</a:t>
            </a:fld>
            <a:endParaRPr lang="pt-BR" dirty="0"/>
          </a:p>
        </p:txBody>
      </p:sp>
      <p:sp>
        <p:nvSpPr>
          <p:cNvPr id="10" name="Retângulo 9"/>
          <p:cNvSpPr/>
          <p:nvPr/>
        </p:nvSpPr>
        <p:spPr>
          <a:xfrm>
            <a:off x="0" y="0"/>
            <a:ext cx="12190413" cy="929464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4000" dirty="0"/>
              <a:t>Referências</a:t>
            </a:r>
            <a:endParaRPr lang="pt-BR" sz="2500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D3E72C1D-5CC6-41AD-A847-9BB029A12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582" y="1221844"/>
            <a:ext cx="11318332" cy="5135980"/>
          </a:xfrm>
        </p:spPr>
        <p:txBody>
          <a:bodyPr>
            <a:normAutofit/>
          </a:bodyPr>
          <a:lstStyle/>
          <a:p>
            <a:pPr marL="711200" indent="-711200">
              <a:buNone/>
            </a:pPr>
            <a:r>
              <a:rPr lang="en-US" dirty="0"/>
              <a:t>Sternberg, R. J., &amp; Sternberg, K. (2010). </a:t>
            </a:r>
            <a:r>
              <a:rPr lang="en-US" i="1" dirty="0"/>
              <a:t>Cognitive psychology</a:t>
            </a:r>
            <a:r>
              <a:rPr lang="en-US" dirty="0"/>
              <a:t> (6</a:t>
            </a:r>
            <a:r>
              <a:rPr lang="en-US" baseline="30000" dirty="0"/>
              <a:t>th</a:t>
            </a:r>
            <a:r>
              <a:rPr lang="en-US" dirty="0"/>
              <a:t> ed.). Wadsworth Cengage Learning.</a:t>
            </a:r>
          </a:p>
          <a:p>
            <a:pPr marL="711200" indent="-711200">
              <a:buNone/>
            </a:pPr>
            <a:r>
              <a:rPr lang="en-US" dirty="0"/>
              <a:t>Sternberg, S. (1966). High-speed scanning in human memory. </a:t>
            </a:r>
            <a:r>
              <a:rPr lang="en-US" i="1" dirty="0"/>
              <a:t>Science</a:t>
            </a:r>
            <a:r>
              <a:rPr lang="en-US" dirty="0"/>
              <a:t>, </a:t>
            </a:r>
            <a:r>
              <a:rPr lang="en-US" i="1" dirty="0"/>
              <a:t>153</a:t>
            </a:r>
            <a:r>
              <a:rPr lang="en-US" dirty="0"/>
              <a:t>(3736), 652–654. https://doi.org/10.1126/science.153.3736.652</a:t>
            </a:r>
          </a:p>
          <a:p>
            <a:pPr marL="711200" indent="-711200">
              <a:buNone/>
            </a:pPr>
            <a:r>
              <a:rPr lang="en-US" dirty="0"/>
              <a:t>Willingham, D. T. (2014). </a:t>
            </a:r>
            <a:r>
              <a:rPr lang="en-US" i="1" dirty="0"/>
              <a:t>Cognition: The thinking animal </a:t>
            </a:r>
            <a:r>
              <a:rPr lang="en-US" dirty="0"/>
              <a:t>(3</a:t>
            </a:r>
            <a:r>
              <a:rPr lang="en-US" baseline="30000" dirty="0"/>
              <a:t>rd</a:t>
            </a:r>
            <a:r>
              <a:rPr lang="en-US" dirty="0"/>
              <a:t> ed.). Pearson. </a:t>
            </a:r>
          </a:p>
        </p:txBody>
      </p:sp>
    </p:spTree>
    <p:extLst>
      <p:ext uri="{BB962C8B-B14F-4D97-AF65-F5344CB8AC3E}">
        <p14:creationId xmlns:p14="http://schemas.microsoft.com/office/powerpoint/2010/main" val="642079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39428</TotalTime>
  <Words>222</Words>
  <Application>Microsoft Office PowerPoint</Application>
  <PresentationFormat>Personalizar</PresentationFormat>
  <Paragraphs>31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Bangers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Christensen and Wright (2010)</dc:title>
  <dc:creator>PRAXIS4</dc:creator>
  <cp:lastModifiedBy>Marcos Lima</cp:lastModifiedBy>
  <cp:revision>719</cp:revision>
  <dcterms:created xsi:type="dcterms:W3CDTF">2016-11-14T13:56:39Z</dcterms:created>
  <dcterms:modified xsi:type="dcterms:W3CDTF">2025-12-30T15:20:08Z</dcterms:modified>
</cp:coreProperties>
</file>