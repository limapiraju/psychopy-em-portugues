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652" r:id="rId2"/>
    <p:sldId id="643" r:id="rId3"/>
    <p:sldId id="655" r:id="rId4"/>
    <p:sldId id="656" r:id="rId5"/>
    <p:sldId id="642" r:id="rId6"/>
  </p:sldIdLst>
  <p:sldSz cx="12190413" cy="6859588"/>
  <p:notesSz cx="6858000" cy="9144000"/>
  <p:defaultTextStyle>
    <a:defPPr>
      <a:defRPr lang="pt-BR"/>
    </a:defPPr>
    <a:lvl1pPr marL="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787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576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363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152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3939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4728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5515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6304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FF66"/>
    <a:srgbClr val="FF3399"/>
    <a:srgbClr val="FF00FF"/>
    <a:srgbClr val="FFC081"/>
    <a:srgbClr val="FFCD9B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2" autoAdjust="0"/>
    <p:restoredTop sz="91129" autoAdjust="0"/>
  </p:normalViewPr>
  <p:slideViewPr>
    <p:cSldViewPr>
      <p:cViewPr varScale="1">
        <p:scale>
          <a:sx n="57" d="100"/>
          <a:sy n="57" d="100"/>
        </p:scale>
        <p:origin x="1434" y="78"/>
      </p:cViewPr>
      <p:guideLst>
        <p:guide orient="horz" pos="2161"/>
        <p:guide pos="3840"/>
      </p:guideLst>
    </p:cSldViewPr>
  </p:slideViewPr>
  <p:outlineViewPr>
    <p:cViewPr>
      <p:scale>
        <a:sx n="20" d="100"/>
        <a:sy n="20" d="100"/>
      </p:scale>
      <p:origin x="0" y="0"/>
    </p:cViewPr>
    <p:sldLst>
      <p:sld r:id="rId1" collapse="1"/>
    </p:sldLst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92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BE1EB-9B3A-4F88-8981-57CAE7D022DC}" type="datetimeFigureOut">
              <a:rPr lang="pt-BR" smtClean="0"/>
              <a:pPr/>
              <a:t>19/07/2026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2B78-184E-410B-8EB3-A78D003ACCE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CA2CC-C870-4222-8082-713A11CF2FEE}" type="datetimeFigureOut">
              <a:rPr lang="pt-BR" smtClean="0"/>
              <a:pPr/>
              <a:t>19/07/2026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0EBA5-ED71-45A1-8B2B-DE2576D0704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787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1576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2363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3152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3939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4728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5515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6304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5734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1897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1792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194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1692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281" y="2130922"/>
            <a:ext cx="10361851" cy="147036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563" y="3887100"/>
            <a:ext cx="8533289" cy="17530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5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36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39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4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55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C2E5-5F2E-41F9-A0FB-F6B6A2395976}" type="datetime1">
              <a:rPr lang="pt-BR" smtClean="0"/>
              <a:pPr/>
              <a:t>19/07/2026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D261-2523-45FF-8ED1-0BCB69162581}" type="datetime1">
              <a:rPr lang="pt-BR" smtClean="0"/>
              <a:pPr/>
              <a:t>19/07/2026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2959" y="4407924"/>
            <a:ext cx="10361851" cy="1362390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2959" y="2907388"/>
            <a:ext cx="10361851" cy="1500534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0787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57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363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315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3939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4728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5515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6304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026C-6155-4932-A819-C07131495285}" type="datetime1">
              <a:rPr lang="pt-BR" smtClean="0"/>
              <a:pPr/>
              <a:t>19/07/2026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522" y="1600573"/>
            <a:ext cx="5384099" cy="45270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6795" y="1600573"/>
            <a:ext cx="5384099" cy="45270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D34F-8B2C-45E7-98CE-F7ED66FA1B80}" type="datetime1">
              <a:rPr lang="pt-BR" smtClean="0"/>
              <a:pPr/>
              <a:t>19/07/2026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522" y="1535471"/>
            <a:ext cx="5386216" cy="63991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879" indent="0">
              <a:buNone/>
              <a:defRPr sz="2300" b="1"/>
            </a:lvl2pPr>
            <a:lvl3pPr marL="1015760" indent="0">
              <a:buNone/>
              <a:defRPr sz="2000" b="1"/>
            </a:lvl3pPr>
            <a:lvl4pPr marL="1523639" indent="0">
              <a:buNone/>
              <a:defRPr sz="1800" b="1"/>
            </a:lvl4pPr>
            <a:lvl5pPr marL="2031520" indent="0">
              <a:buNone/>
              <a:defRPr sz="1800" b="1"/>
            </a:lvl5pPr>
            <a:lvl6pPr marL="2539399" indent="0">
              <a:buNone/>
              <a:defRPr sz="1800" b="1"/>
            </a:lvl6pPr>
            <a:lvl7pPr marL="3047280" indent="0">
              <a:buNone/>
              <a:defRPr sz="1800" b="1"/>
            </a:lvl7pPr>
            <a:lvl8pPr marL="3555159" indent="0">
              <a:buNone/>
              <a:defRPr sz="1800" b="1"/>
            </a:lvl8pPr>
            <a:lvl9pPr marL="406304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522" y="2175380"/>
            <a:ext cx="5386216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2565" y="1535471"/>
            <a:ext cx="5388332" cy="63991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879" indent="0">
              <a:buNone/>
              <a:defRPr sz="2300" b="1"/>
            </a:lvl2pPr>
            <a:lvl3pPr marL="1015760" indent="0">
              <a:buNone/>
              <a:defRPr sz="2000" b="1"/>
            </a:lvl3pPr>
            <a:lvl4pPr marL="1523639" indent="0">
              <a:buNone/>
              <a:defRPr sz="1800" b="1"/>
            </a:lvl4pPr>
            <a:lvl5pPr marL="2031520" indent="0">
              <a:buNone/>
              <a:defRPr sz="1800" b="1"/>
            </a:lvl5pPr>
            <a:lvl6pPr marL="2539399" indent="0">
              <a:buNone/>
              <a:defRPr sz="1800" b="1"/>
            </a:lvl6pPr>
            <a:lvl7pPr marL="3047280" indent="0">
              <a:buNone/>
              <a:defRPr sz="1800" b="1"/>
            </a:lvl7pPr>
            <a:lvl8pPr marL="3555159" indent="0">
              <a:buNone/>
              <a:defRPr sz="1800" b="1"/>
            </a:lvl8pPr>
            <a:lvl9pPr marL="406304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2565" y="2175380"/>
            <a:ext cx="5388332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FB13-4A75-42B7-90FC-4FF930268F62}" type="datetime1">
              <a:rPr lang="pt-BR" smtClean="0"/>
              <a:pPr/>
              <a:t>19/07/2026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2C7D3-B9EE-4353-80CB-4E628B094EA8}" type="datetime1">
              <a:rPr lang="pt-BR" smtClean="0"/>
              <a:pPr/>
              <a:t>19/07/2026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0A78-9207-4F09-A348-718AD96E4D93}" type="datetime1">
              <a:rPr lang="pt-BR" smtClean="0"/>
              <a:pPr/>
              <a:t>19/07/2026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25" y="273115"/>
            <a:ext cx="4010562" cy="116232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113" y="273118"/>
            <a:ext cx="6814779" cy="5854468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525" y="1435437"/>
            <a:ext cx="4010562" cy="4692149"/>
          </a:xfrm>
        </p:spPr>
        <p:txBody>
          <a:bodyPr/>
          <a:lstStyle>
            <a:lvl1pPr marL="0" indent="0">
              <a:buNone/>
              <a:defRPr sz="1500"/>
            </a:lvl1pPr>
            <a:lvl2pPr marL="507879" indent="0">
              <a:buNone/>
              <a:defRPr sz="1300"/>
            </a:lvl2pPr>
            <a:lvl3pPr marL="1015760" indent="0">
              <a:buNone/>
              <a:defRPr sz="1100"/>
            </a:lvl3pPr>
            <a:lvl4pPr marL="1523639" indent="0">
              <a:buNone/>
              <a:defRPr sz="1000"/>
            </a:lvl4pPr>
            <a:lvl5pPr marL="2031520" indent="0">
              <a:buNone/>
              <a:defRPr sz="1000"/>
            </a:lvl5pPr>
            <a:lvl6pPr marL="2539399" indent="0">
              <a:buNone/>
              <a:defRPr sz="1000"/>
            </a:lvl6pPr>
            <a:lvl7pPr marL="3047280" indent="0">
              <a:buNone/>
              <a:defRPr sz="1000"/>
            </a:lvl7pPr>
            <a:lvl8pPr marL="3555159" indent="0">
              <a:buNone/>
              <a:defRPr sz="1000"/>
            </a:lvl8pPr>
            <a:lvl9pPr marL="4063040" indent="0">
              <a:buNone/>
              <a:defRPr sz="10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F061-2354-4E7B-9294-11A163B323B2}" type="datetime1">
              <a:rPr lang="pt-BR" smtClean="0"/>
              <a:pPr/>
              <a:t>19/07/2026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406" y="4801714"/>
            <a:ext cx="7314248" cy="56687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406" y="612917"/>
            <a:ext cx="7314248" cy="4115753"/>
          </a:xfrm>
        </p:spPr>
        <p:txBody>
          <a:bodyPr/>
          <a:lstStyle>
            <a:lvl1pPr marL="0" indent="0">
              <a:buNone/>
              <a:defRPr sz="3600"/>
            </a:lvl1pPr>
            <a:lvl2pPr marL="507879" indent="0">
              <a:buNone/>
              <a:defRPr sz="3100"/>
            </a:lvl2pPr>
            <a:lvl3pPr marL="1015760" indent="0">
              <a:buNone/>
              <a:defRPr sz="2700"/>
            </a:lvl3pPr>
            <a:lvl4pPr marL="1523639" indent="0">
              <a:buNone/>
              <a:defRPr sz="2300"/>
            </a:lvl4pPr>
            <a:lvl5pPr marL="2031520" indent="0">
              <a:buNone/>
              <a:defRPr sz="2300"/>
            </a:lvl5pPr>
            <a:lvl6pPr marL="2539399" indent="0">
              <a:buNone/>
              <a:defRPr sz="2300"/>
            </a:lvl6pPr>
            <a:lvl7pPr marL="3047280" indent="0">
              <a:buNone/>
              <a:defRPr sz="2300"/>
            </a:lvl7pPr>
            <a:lvl8pPr marL="3555159" indent="0">
              <a:buNone/>
              <a:defRPr sz="2300"/>
            </a:lvl8pPr>
            <a:lvl9pPr marL="4063040" indent="0">
              <a:buNone/>
              <a:defRPr sz="23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406" y="5368584"/>
            <a:ext cx="7314248" cy="805049"/>
          </a:xfrm>
        </p:spPr>
        <p:txBody>
          <a:bodyPr/>
          <a:lstStyle>
            <a:lvl1pPr marL="0" indent="0">
              <a:buNone/>
              <a:defRPr sz="1500"/>
            </a:lvl1pPr>
            <a:lvl2pPr marL="507879" indent="0">
              <a:buNone/>
              <a:defRPr sz="1300"/>
            </a:lvl2pPr>
            <a:lvl3pPr marL="1015760" indent="0">
              <a:buNone/>
              <a:defRPr sz="1100"/>
            </a:lvl3pPr>
            <a:lvl4pPr marL="1523639" indent="0">
              <a:buNone/>
              <a:defRPr sz="1000"/>
            </a:lvl4pPr>
            <a:lvl5pPr marL="2031520" indent="0">
              <a:buNone/>
              <a:defRPr sz="1000"/>
            </a:lvl5pPr>
            <a:lvl6pPr marL="2539399" indent="0">
              <a:buNone/>
              <a:defRPr sz="1000"/>
            </a:lvl6pPr>
            <a:lvl7pPr marL="3047280" indent="0">
              <a:buNone/>
              <a:defRPr sz="1000"/>
            </a:lvl7pPr>
            <a:lvl8pPr marL="3555159" indent="0">
              <a:buNone/>
              <a:defRPr sz="1000"/>
            </a:lvl8pPr>
            <a:lvl9pPr marL="4063040" indent="0">
              <a:buNone/>
              <a:defRPr sz="10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7B3E-F030-42B0-83BA-8AE4FBEC2267}" type="datetime1">
              <a:rPr lang="pt-BR" smtClean="0"/>
              <a:pPr/>
              <a:t>19/07/2026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F0EE-6503-4E8F-A013-CFD41AFB6EA6}" type="datetime1">
              <a:rPr lang="pt-BR" smtClean="0"/>
              <a:pPr/>
              <a:t>19/07/2026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8051" y="274705"/>
            <a:ext cx="2742843" cy="585288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521" y="274705"/>
            <a:ext cx="8025355" cy="585288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AD86-4BE5-4079-9D68-EB0FF3EB9B8E}" type="datetime1">
              <a:rPr lang="pt-BR" smtClean="0"/>
              <a:pPr/>
              <a:t>19/07/2026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522" y="274702"/>
            <a:ext cx="10971372" cy="1143265"/>
          </a:xfrm>
          <a:prstGeom prst="rect">
            <a:avLst/>
          </a:prstGeom>
        </p:spPr>
        <p:txBody>
          <a:bodyPr vert="horz" lIns="101576" tIns="50788" rIns="101576" bIns="50788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522" y="1600573"/>
            <a:ext cx="10971372" cy="4527011"/>
          </a:xfrm>
          <a:prstGeom prst="rect">
            <a:avLst/>
          </a:prstGeom>
        </p:spPr>
        <p:txBody>
          <a:bodyPr vert="horz" lIns="101576" tIns="50788" rIns="101576" bIns="50788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521" y="6357824"/>
            <a:ext cx="2844430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8A825-296A-4964-85BE-4EAB02630B2E}" type="datetime1">
              <a:rPr lang="pt-BR" smtClean="0"/>
              <a:pPr/>
              <a:t>19/07/2026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059" y="6357824"/>
            <a:ext cx="3860297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6463" y="6357824"/>
            <a:ext cx="2844430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101576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10" indent="-380910" algn="l" defTabSz="101576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5306" indent="-317425" algn="l" defTabSz="1015760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6970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77580" indent="-253940" algn="l" defTabSz="1015760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85460" indent="-253940" algn="l" defTabSz="1015760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79334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0122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10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1698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87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76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63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52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39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728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515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304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" y="1"/>
            <a:ext cx="205201" cy="410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1576" tIns="50788" rIns="101576" bIns="50788" anchor="ctr">
            <a:prstTxWarp prst="textNoShape">
              <a:avLst/>
            </a:prstTxWarp>
            <a:spAutoFit/>
          </a:bodyPr>
          <a:lstStyle/>
          <a:p>
            <a:endParaRPr lang="pt-BR" dirty="0"/>
          </a:p>
        </p:txBody>
      </p:sp>
      <p:sp>
        <p:nvSpPr>
          <p:cNvPr id="15" name="Elipse 5"/>
          <p:cNvSpPr/>
          <p:nvPr/>
        </p:nvSpPr>
        <p:spPr>
          <a:xfrm>
            <a:off x="11142720" y="6359400"/>
            <a:ext cx="570960" cy="42840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1" y="0"/>
            <a:ext cx="12218211" cy="6859588"/>
          </a:xfrm>
          <a:prstGeom prst="rect">
            <a:avLst/>
          </a:prstGeom>
        </p:spPr>
      </p:pic>
      <p:sp>
        <p:nvSpPr>
          <p:cNvPr id="14" name="PlaceHolder 1"/>
          <p:cNvSpPr txBox="1">
            <a:spLocks/>
          </p:cNvSpPr>
          <p:nvPr/>
        </p:nvSpPr>
        <p:spPr>
          <a:xfrm rot="21346946">
            <a:off x="321418" y="2568761"/>
            <a:ext cx="8058167" cy="3855620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PARADIGMA DE DETECÇÃO DE</a:t>
            </a:r>
          </a:p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0" spc="-1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Bangers" panose="00000500000000000000" pitchFamily="2" charset="0"/>
                <a:ea typeface="+mj-ea"/>
                <a:cs typeface="+mj-cs"/>
              </a:rPr>
              <a:t>A</a:t>
            </a:r>
            <a:r>
              <a:rPr kumimoji="0" lang="pt-BR" sz="8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MEAÇAS</a:t>
            </a:r>
          </a:p>
        </p:txBody>
      </p:sp>
      <p:sp>
        <p:nvSpPr>
          <p:cNvPr id="8" name="PlaceHolder 1"/>
          <p:cNvSpPr txBox="1">
            <a:spLocks/>
          </p:cNvSpPr>
          <p:nvPr/>
        </p:nvSpPr>
        <p:spPr>
          <a:xfrm rot="21346946">
            <a:off x="338944" y="884362"/>
            <a:ext cx="7383179" cy="2349126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rm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rgbClr val="FFFF66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AULA 080</a:t>
            </a:r>
          </a:p>
        </p:txBody>
      </p:sp>
    </p:spTree>
    <p:extLst>
      <p:ext uri="{BB962C8B-B14F-4D97-AF65-F5344CB8AC3E}">
        <p14:creationId xmlns:p14="http://schemas.microsoft.com/office/powerpoint/2010/main" val="40963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9" name="Retângulo 9">
            <a:extLst>
              <a:ext uri="{FF2B5EF4-FFF2-40B4-BE49-F238E27FC236}">
                <a16:creationId xmlns:a16="http://schemas.microsoft.com/office/drawing/2014/main" id="{1342A9E3-06AB-4174-B720-E7B4C82BCF7C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/>
              <a:t>Paradigma</a:t>
            </a:r>
            <a:r>
              <a:rPr lang="en-US" sz="4000" dirty="0"/>
              <a:t> de </a:t>
            </a:r>
            <a:r>
              <a:rPr lang="en-US" sz="4000" dirty="0" err="1"/>
              <a:t>detecção</a:t>
            </a:r>
            <a:r>
              <a:rPr lang="en-US" sz="4000" dirty="0"/>
              <a:t> de </a:t>
            </a:r>
            <a:r>
              <a:rPr lang="en-US" sz="4000" dirty="0" err="1"/>
              <a:t>ameaças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spaço Reservado para Conteúdo 2">
                <a:extLst>
                  <a:ext uri="{FF2B5EF4-FFF2-40B4-BE49-F238E27FC236}">
                    <a16:creationId xmlns:a16="http://schemas.microsoft.com/office/drawing/2014/main" id="{E05DFCEB-B51E-49BF-98C3-1EA4ADEEDD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8582" y="1072658"/>
                <a:ext cx="11318332" cy="5597496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Threat detection paradigm</a:t>
                </a:r>
                <a:r>
                  <a:rPr lang="en-US" sz="2400" dirty="0"/>
                  <a:t> </a:t>
                </a:r>
                <a:r>
                  <a:rPr lang="pt-BR" sz="2800" dirty="0"/>
                  <a:t>(</a:t>
                </a:r>
                <a:r>
                  <a:rPr lang="pt-BR" sz="2800" dirty="0" err="1"/>
                  <a:t>LoBue</a:t>
                </a:r>
                <a:r>
                  <a:rPr lang="pt-BR" sz="2800" dirty="0"/>
                  <a:t> &amp; Matthews, 2014)</a:t>
                </a:r>
              </a:p>
              <a:p>
                <a:pPr lvl="1"/>
                <a:r>
                  <a:rPr lang="pt-BR" dirty="0"/>
                  <a:t>Caso particular de tarefas de busca visual</a:t>
                </a:r>
              </a:p>
              <a:p>
                <a:pPr lvl="1"/>
                <a:r>
                  <a:rPr lang="pt-BR" dirty="0"/>
                  <a:t>Os participantes veem uma grade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pt-BR" dirty="0"/>
                  <a:t> contendo imagens e devem fazer algum tipo de julgamento comportamental</a:t>
                </a:r>
              </a:p>
              <a:p>
                <a:pPr lvl="1"/>
                <a:r>
                  <a:rPr lang="pt-BR" dirty="0"/>
                  <a:t>Tarefa de detecção: identificar o estímulo que pertence a uma categoria distinta dos demais estímulos</a:t>
                </a:r>
              </a:p>
              <a:p>
                <a:pPr lvl="1"/>
                <a:r>
                  <a:rPr lang="pt-BR" dirty="0"/>
                  <a:t>Tarefa de julgamento categórico: avaliar se todos os estímulos são ou não de uma mesma categoria semântica</a:t>
                </a:r>
              </a:p>
              <a:p>
                <a:pPr lvl="1"/>
                <a:r>
                  <a:rPr lang="pt-BR" dirty="0"/>
                  <a:t>Variável dependente: tempo de reação (RT)</a:t>
                </a:r>
              </a:p>
              <a:p>
                <a:endParaRPr lang="pt-BR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1" name="Espaço Reservado para Conteúdo 2">
                <a:extLst>
                  <a:ext uri="{FF2B5EF4-FFF2-40B4-BE49-F238E27FC236}">
                    <a16:creationId xmlns:a16="http://schemas.microsoft.com/office/drawing/2014/main" id="{E05DFCEB-B51E-49BF-98C3-1EA4ADEEDD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8582" y="1072658"/>
                <a:ext cx="11318332" cy="5597496"/>
              </a:xfrm>
              <a:blipFill>
                <a:blip r:embed="rId3"/>
                <a:stretch>
                  <a:fillRect l="-1401" t="-16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939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3</a:t>
            </a:fld>
            <a:endParaRPr lang="pt-BR" dirty="0"/>
          </a:p>
        </p:txBody>
      </p:sp>
      <p:sp>
        <p:nvSpPr>
          <p:cNvPr id="9" name="Retângulo 9">
            <a:extLst>
              <a:ext uri="{FF2B5EF4-FFF2-40B4-BE49-F238E27FC236}">
                <a16:creationId xmlns:a16="http://schemas.microsoft.com/office/drawing/2014/main" id="{1342A9E3-06AB-4174-B720-E7B4C82BCF7C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/>
              <a:t>Paradigma</a:t>
            </a:r>
            <a:r>
              <a:rPr lang="en-US" sz="4000" dirty="0"/>
              <a:t> de </a:t>
            </a:r>
            <a:r>
              <a:rPr lang="en-US" sz="4000" dirty="0" err="1"/>
              <a:t>detecção</a:t>
            </a:r>
            <a:r>
              <a:rPr lang="en-US" sz="4000" dirty="0"/>
              <a:t> de </a:t>
            </a:r>
            <a:r>
              <a:rPr lang="en-US" sz="4000" dirty="0" err="1"/>
              <a:t>ameaças</a:t>
            </a:r>
            <a:r>
              <a:rPr lang="en-US" sz="4000" dirty="0"/>
              <a:t> </a:t>
            </a:r>
            <a:r>
              <a:rPr lang="en-US" sz="2800" dirty="0"/>
              <a:t>(Hayakawa et al., 2011)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87FA343-C207-4246-A423-44EA20958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52" y="1411062"/>
            <a:ext cx="5479330" cy="461102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F8E0EE1-D432-404E-B9DC-01B67893E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230" y="1446100"/>
            <a:ext cx="5479331" cy="457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6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4</a:t>
            </a:fld>
            <a:endParaRPr lang="pt-BR" dirty="0"/>
          </a:p>
        </p:txBody>
      </p:sp>
      <p:sp>
        <p:nvSpPr>
          <p:cNvPr id="9" name="Retângulo 9">
            <a:extLst>
              <a:ext uri="{FF2B5EF4-FFF2-40B4-BE49-F238E27FC236}">
                <a16:creationId xmlns:a16="http://schemas.microsoft.com/office/drawing/2014/main" id="{1342A9E3-06AB-4174-B720-E7B4C82BCF7C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/>
              <a:t>Paradigma</a:t>
            </a:r>
            <a:r>
              <a:rPr lang="en-US" sz="4000" dirty="0"/>
              <a:t> de </a:t>
            </a:r>
            <a:r>
              <a:rPr lang="en-US" sz="4000" dirty="0" err="1"/>
              <a:t>detecção</a:t>
            </a:r>
            <a:r>
              <a:rPr lang="en-US" sz="4000" dirty="0"/>
              <a:t> de </a:t>
            </a:r>
            <a:r>
              <a:rPr lang="en-US" sz="4000"/>
              <a:t>ameaças: </a:t>
            </a:r>
            <a:r>
              <a:rPr lang="pt-BR" sz="4000" dirty="0"/>
              <a:t>meu desempenho</a:t>
            </a:r>
            <a:endParaRPr lang="pt-BR" sz="28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1936388-48C2-4234-92DB-CB99C1BD08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4585" y="1034983"/>
            <a:ext cx="7659053" cy="568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783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Referências</a:t>
            </a:r>
            <a:endParaRPr lang="pt-BR" sz="2500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D3E72C1D-5CC6-41AD-A847-9BB029A1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582" y="1221844"/>
            <a:ext cx="11318332" cy="5304294"/>
          </a:xfrm>
        </p:spPr>
        <p:txBody>
          <a:bodyPr>
            <a:normAutofit fontScale="85000" lnSpcReduction="20000"/>
          </a:bodyPr>
          <a:lstStyle/>
          <a:p>
            <a:pPr marL="711200" indent="-711200">
              <a:buNone/>
            </a:pPr>
            <a:r>
              <a:rPr lang="en-US" dirty="0"/>
              <a:t>Hayakawa, S., Kawai, N., &amp; Masataka, N. (2011). The influence of color on snake detection in visual search in human children. </a:t>
            </a:r>
            <a:r>
              <a:rPr lang="en-US" i="1" dirty="0"/>
              <a:t>Scientific Reports</a:t>
            </a:r>
            <a:r>
              <a:rPr lang="en-US" dirty="0"/>
              <a:t>, </a:t>
            </a:r>
            <a:r>
              <a:rPr lang="en-US" i="1" dirty="0"/>
              <a:t>1</a:t>
            </a:r>
            <a:r>
              <a:rPr lang="en-US" dirty="0"/>
              <a:t>, Article 80. https://doi.org/10.1038/srep00080</a:t>
            </a:r>
          </a:p>
          <a:p>
            <a:pPr marL="711200" indent="-711200">
              <a:buNone/>
            </a:pPr>
            <a:r>
              <a:rPr lang="en-US" dirty="0" err="1"/>
              <a:t>Hebart</a:t>
            </a:r>
            <a:r>
              <a:rPr lang="en-US" dirty="0"/>
              <a:t>, M. N., </a:t>
            </a:r>
            <a:r>
              <a:rPr lang="en-US" dirty="0" err="1"/>
              <a:t>Dickter</a:t>
            </a:r>
            <a:r>
              <a:rPr lang="en-US" dirty="0"/>
              <a:t>, A. H., Kidder, A., Kwok, W. Y., Corriveau, A., Van </a:t>
            </a:r>
            <a:r>
              <a:rPr lang="en-US" dirty="0" err="1"/>
              <a:t>Wicklin</a:t>
            </a:r>
            <a:r>
              <a:rPr lang="en-US" dirty="0"/>
              <a:t>, C., &amp; Baker, C. I. (2019). THINGS: A database of 1,854 object concepts and more than 26,000 naturalistic object images. </a:t>
            </a:r>
            <a:r>
              <a:rPr lang="en-US" i="1" dirty="0" err="1"/>
              <a:t>PLoS</a:t>
            </a:r>
            <a:r>
              <a:rPr lang="en-US" i="1" dirty="0"/>
              <a:t> ONE</a:t>
            </a:r>
            <a:r>
              <a:rPr lang="en-US" dirty="0"/>
              <a:t>, </a:t>
            </a:r>
            <a:r>
              <a:rPr lang="en-US" i="1" dirty="0"/>
              <a:t>14</a:t>
            </a:r>
            <a:r>
              <a:rPr lang="en-US" dirty="0"/>
              <a:t>(10), Article e0223792. https://doi.org/10.1371/journal.pone.0223792</a:t>
            </a:r>
          </a:p>
          <a:p>
            <a:pPr marL="711200" indent="-711200">
              <a:buNone/>
            </a:pPr>
            <a:r>
              <a:rPr lang="en-US" dirty="0" err="1"/>
              <a:t>LoBue</a:t>
            </a:r>
            <a:r>
              <a:rPr lang="en-US" dirty="0"/>
              <a:t>, V., &amp; Matthews, K. (2014). The snake in the grass revisited: An experimental comparison of threat detection paradigms. </a:t>
            </a:r>
            <a:r>
              <a:rPr lang="en-US" i="1" dirty="0"/>
              <a:t>Cognition and Emotion</a:t>
            </a:r>
            <a:r>
              <a:rPr lang="en-US" dirty="0"/>
              <a:t>, </a:t>
            </a:r>
            <a:r>
              <a:rPr lang="en-US" i="1" dirty="0"/>
              <a:t>28</a:t>
            </a:r>
            <a:r>
              <a:rPr lang="en-US" dirty="0"/>
              <a:t>(1), 22–35. https://doi.org/10.1080/02699931.2013.790783</a:t>
            </a:r>
          </a:p>
        </p:txBody>
      </p:sp>
    </p:spTree>
    <p:extLst>
      <p:ext uri="{BB962C8B-B14F-4D97-AF65-F5344CB8AC3E}">
        <p14:creationId xmlns:p14="http://schemas.microsoft.com/office/powerpoint/2010/main" val="6420791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39169</TotalTime>
  <Words>285</Words>
  <Application>Microsoft Office PowerPoint</Application>
  <PresentationFormat>Personalizar</PresentationFormat>
  <Paragraphs>25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Bangers</vt:lpstr>
      <vt:lpstr>Calibri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Christensen and Wright (2010)</dc:title>
  <dc:creator>PRAXIS4</dc:creator>
  <cp:lastModifiedBy>Marcos Lima</cp:lastModifiedBy>
  <cp:revision>712</cp:revision>
  <dcterms:created xsi:type="dcterms:W3CDTF">2016-11-14T13:56:39Z</dcterms:created>
  <dcterms:modified xsi:type="dcterms:W3CDTF">2026-07-19T16:12:07Z</dcterms:modified>
</cp:coreProperties>
</file>