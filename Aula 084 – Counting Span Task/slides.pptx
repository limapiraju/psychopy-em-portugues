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652" r:id="rId2"/>
    <p:sldId id="653" r:id="rId3"/>
    <p:sldId id="1096" r:id="rId4"/>
    <p:sldId id="1098" r:id="rId5"/>
    <p:sldId id="642" r:id="rId6"/>
  </p:sldIdLst>
  <p:sldSz cx="12190413" cy="6859588"/>
  <p:notesSz cx="6858000" cy="9144000"/>
  <p:defaultTextStyle>
    <a:defPPr>
      <a:defRPr lang="pt-BR"/>
    </a:defPPr>
    <a:lvl1pPr marL="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787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576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363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152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3939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4728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5515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6304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DEB7"/>
    <a:srgbClr val="FF3300"/>
    <a:srgbClr val="2CAE16"/>
    <a:srgbClr val="008000"/>
    <a:srgbClr val="FF00FF"/>
    <a:srgbClr val="660066"/>
    <a:srgbClr val="FF3399"/>
    <a:srgbClr val="FFC081"/>
    <a:srgbClr val="FFCD9B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9" autoAdjust="0"/>
    <p:restoredTop sz="92137" autoAdjust="0"/>
  </p:normalViewPr>
  <p:slideViewPr>
    <p:cSldViewPr>
      <p:cViewPr varScale="1">
        <p:scale>
          <a:sx n="57" d="100"/>
          <a:sy n="57" d="100"/>
        </p:scale>
        <p:origin x="1170" y="78"/>
      </p:cViewPr>
      <p:guideLst>
        <p:guide orient="horz" pos="2161"/>
        <p:guide pos="3840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92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BE1EB-9B3A-4F88-8981-57CAE7D022DC}" type="datetimeFigureOut">
              <a:rPr lang="pt-BR" smtClean="0"/>
              <a:pPr/>
              <a:t>15/10/2026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F2B78-184E-410B-8EB3-A78D003ACCE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32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CA2CC-C870-4222-8082-713A11CF2FEE}" type="datetimeFigureOut">
              <a:rPr lang="pt-BR" smtClean="0"/>
              <a:pPr/>
              <a:t>15/10/2026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0EBA5-ED71-45A1-8B2B-DE2576D0704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070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0787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1576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2363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3152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3939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4728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5515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6304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5734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3503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7425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5795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1692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281" y="2130922"/>
            <a:ext cx="10361851" cy="147036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563" y="3887100"/>
            <a:ext cx="8533289" cy="17530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5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36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39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4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55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C2E5-5F2E-41F9-A0FB-F6B6A2395976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D261-2523-45FF-8ED1-0BCB69162581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2959" y="4407924"/>
            <a:ext cx="10361851" cy="1362390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2959" y="2907388"/>
            <a:ext cx="10361851" cy="1500534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0787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57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363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3152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3939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4728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5515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6304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026C-6155-4932-A819-C07131495285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522" y="1600573"/>
            <a:ext cx="5384099" cy="45270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6795" y="1600573"/>
            <a:ext cx="5384099" cy="45270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D34F-8B2C-45E7-98CE-F7ED66FA1B80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522" y="1535471"/>
            <a:ext cx="5386216" cy="63991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879" indent="0">
              <a:buNone/>
              <a:defRPr sz="2300" b="1"/>
            </a:lvl2pPr>
            <a:lvl3pPr marL="1015760" indent="0">
              <a:buNone/>
              <a:defRPr sz="2000" b="1"/>
            </a:lvl3pPr>
            <a:lvl4pPr marL="1523639" indent="0">
              <a:buNone/>
              <a:defRPr sz="1800" b="1"/>
            </a:lvl4pPr>
            <a:lvl5pPr marL="2031520" indent="0">
              <a:buNone/>
              <a:defRPr sz="1800" b="1"/>
            </a:lvl5pPr>
            <a:lvl6pPr marL="2539399" indent="0">
              <a:buNone/>
              <a:defRPr sz="1800" b="1"/>
            </a:lvl6pPr>
            <a:lvl7pPr marL="3047280" indent="0">
              <a:buNone/>
              <a:defRPr sz="1800" b="1"/>
            </a:lvl7pPr>
            <a:lvl8pPr marL="3555159" indent="0">
              <a:buNone/>
              <a:defRPr sz="1800" b="1"/>
            </a:lvl8pPr>
            <a:lvl9pPr marL="4063040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522" y="2175380"/>
            <a:ext cx="5386216" cy="395220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2565" y="1535471"/>
            <a:ext cx="5388332" cy="63991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879" indent="0">
              <a:buNone/>
              <a:defRPr sz="2300" b="1"/>
            </a:lvl2pPr>
            <a:lvl3pPr marL="1015760" indent="0">
              <a:buNone/>
              <a:defRPr sz="2000" b="1"/>
            </a:lvl3pPr>
            <a:lvl4pPr marL="1523639" indent="0">
              <a:buNone/>
              <a:defRPr sz="1800" b="1"/>
            </a:lvl4pPr>
            <a:lvl5pPr marL="2031520" indent="0">
              <a:buNone/>
              <a:defRPr sz="1800" b="1"/>
            </a:lvl5pPr>
            <a:lvl6pPr marL="2539399" indent="0">
              <a:buNone/>
              <a:defRPr sz="1800" b="1"/>
            </a:lvl6pPr>
            <a:lvl7pPr marL="3047280" indent="0">
              <a:buNone/>
              <a:defRPr sz="1800" b="1"/>
            </a:lvl7pPr>
            <a:lvl8pPr marL="3555159" indent="0">
              <a:buNone/>
              <a:defRPr sz="1800" b="1"/>
            </a:lvl8pPr>
            <a:lvl9pPr marL="4063040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2565" y="2175380"/>
            <a:ext cx="5388332" cy="395220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FB13-4A75-42B7-90FC-4FF930268F62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2C7D3-B9EE-4353-80CB-4E628B094EA8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0A78-9207-4F09-A348-718AD96E4D93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25" y="273115"/>
            <a:ext cx="4010562" cy="116232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113" y="273118"/>
            <a:ext cx="6814779" cy="5854468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525" y="1435437"/>
            <a:ext cx="4010562" cy="4692149"/>
          </a:xfrm>
        </p:spPr>
        <p:txBody>
          <a:bodyPr/>
          <a:lstStyle>
            <a:lvl1pPr marL="0" indent="0">
              <a:buNone/>
              <a:defRPr sz="1500"/>
            </a:lvl1pPr>
            <a:lvl2pPr marL="507879" indent="0">
              <a:buNone/>
              <a:defRPr sz="1300"/>
            </a:lvl2pPr>
            <a:lvl3pPr marL="1015760" indent="0">
              <a:buNone/>
              <a:defRPr sz="1100"/>
            </a:lvl3pPr>
            <a:lvl4pPr marL="1523639" indent="0">
              <a:buNone/>
              <a:defRPr sz="1000"/>
            </a:lvl4pPr>
            <a:lvl5pPr marL="2031520" indent="0">
              <a:buNone/>
              <a:defRPr sz="1000"/>
            </a:lvl5pPr>
            <a:lvl6pPr marL="2539399" indent="0">
              <a:buNone/>
              <a:defRPr sz="1000"/>
            </a:lvl6pPr>
            <a:lvl7pPr marL="3047280" indent="0">
              <a:buNone/>
              <a:defRPr sz="1000"/>
            </a:lvl7pPr>
            <a:lvl8pPr marL="3555159" indent="0">
              <a:buNone/>
              <a:defRPr sz="1000"/>
            </a:lvl8pPr>
            <a:lvl9pPr marL="4063040" indent="0">
              <a:buNone/>
              <a:defRPr sz="10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F061-2354-4E7B-9294-11A163B323B2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406" y="4801714"/>
            <a:ext cx="7314248" cy="56687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406" y="612917"/>
            <a:ext cx="7314248" cy="4115753"/>
          </a:xfrm>
        </p:spPr>
        <p:txBody>
          <a:bodyPr/>
          <a:lstStyle>
            <a:lvl1pPr marL="0" indent="0">
              <a:buNone/>
              <a:defRPr sz="3600"/>
            </a:lvl1pPr>
            <a:lvl2pPr marL="507879" indent="0">
              <a:buNone/>
              <a:defRPr sz="3100"/>
            </a:lvl2pPr>
            <a:lvl3pPr marL="1015760" indent="0">
              <a:buNone/>
              <a:defRPr sz="2700"/>
            </a:lvl3pPr>
            <a:lvl4pPr marL="1523639" indent="0">
              <a:buNone/>
              <a:defRPr sz="2300"/>
            </a:lvl4pPr>
            <a:lvl5pPr marL="2031520" indent="0">
              <a:buNone/>
              <a:defRPr sz="2300"/>
            </a:lvl5pPr>
            <a:lvl6pPr marL="2539399" indent="0">
              <a:buNone/>
              <a:defRPr sz="2300"/>
            </a:lvl6pPr>
            <a:lvl7pPr marL="3047280" indent="0">
              <a:buNone/>
              <a:defRPr sz="2300"/>
            </a:lvl7pPr>
            <a:lvl8pPr marL="3555159" indent="0">
              <a:buNone/>
              <a:defRPr sz="2300"/>
            </a:lvl8pPr>
            <a:lvl9pPr marL="4063040" indent="0">
              <a:buNone/>
              <a:defRPr sz="23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406" y="5368584"/>
            <a:ext cx="7314248" cy="805049"/>
          </a:xfrm>
        </p:spPr>
        <p:txBody>
          <a:bodyPr/>
          <a:lstStyle>
            <a:lvl1pPr marL="0" indent="0">
              <a:buNone/>
              <a:defRPr sz="1500"/>
            </a:lvl1pPr>
            <a:lvl2pPr marL="507879" indent="0">
              <a:buNone/>
              <a:defRPr sz="1300"/>
            </a:lvl2pPr>
            <a:lvl3pPr marL="1015760" indent="0">
              <a:buNone/>
              <a:defRPr sz="1100"/>
            </a:lvl3pPr>
            <a:lvl4pPr marL="1523639" indent="0">
              <a:buNone/>
              <a:defRPr sz="1000"/>
            </a:lvl4pPr>
            <a:lvl5pPr marL="2031520" indent="0">
              <a:buNone/>
              <a:defRPr sz="1000"/>
            </a:lvl5pPr>
            <a:lvl6pPr marL="2539399" indent="0">
              <a:buNone/>
              <a:defRPr sz="1000"/>
            </a:lvl6pPr>
            <a:lvl7pPr marL="3047280" indent="0">
              <a:buNone/>
              <a:defRPr sz="1000"/>
            </a:lvl7pPr>
            <a:lvl8pPr marL="3555159" indent="0">
              <a:buNone/>
              <a:defRPr sz="1000"/>
            </a:lvl8pPr>
            <a:lvl9pPr marL="4063040" indent="0">
              <a:buNone/>
              <a:defRPr sz="10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7B3E-F030-42B0-83BA-8AE4FBEC2267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F0EE-6503-4E8F-A013-CFD41AFB6EA6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8051" y="274705"/>
            <a:ext cx="2742843" cy="585288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521" y="274705"/>
            <a:ext cx="8025355" cy="585288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AD86-4BE5-4079-9D68-EB0FF3EB9B8E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522" y="274702"/>
            <a:ext cx="10971372" cy="1143265"/>
          </a:xfrm>
          <a:prstGeom prst="rect">
            <a:avLst/>
          </a:prstGeom>
        </p:spPr>
        <p:txBody>
          <a:bodyPr vert="horz" lIns="101576" tIns="50788" rIns="101576" bIns="50788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522" y="1600573"/>
            <a:ext cx="10971372" cy="4527011"/>
          </a:xfrm>
          <a:prstGeom prst="rect">
            <a:avLst/>
          </a:prstGeom>
        </p:spPr>
        <p:txBody>
          <a:bodyPr vert="horz" lIns="101576" tIns="50788" rIns="101576" bIns="50788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521" y="6357824"/>
            <a:ext cx="2844430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8A825-296A-4964-85BE-4EAB02630B2E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059" y="6357824"/>
            <a:ext cx="3860297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6463" y="6357824"/>
            <a:ext cx="2844430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101576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10" indent="-380910" algn="l" defTabSz="101576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5306" indent="-317425" algn="l" defTabSz="1015760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6970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77580" indent="-253940" algn="l" defTabSz="1015760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85460" indent="-253940" algn="l" defTabSz="1015760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79334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0122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10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1698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87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76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363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152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939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728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515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304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" y="1"/>
            <a:ext cx="205201" cy="410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1576" tIns="50788" rIns="101576" bIns="50788" anchor="ctr">
            <a:prstTxWarp prst="textNoShape">
              <a:avLst/>
            </a:prstTxWarp>
            <a:spAutoFit/>
          </a:bodyPr>
          <a:lstStyle/>
          <a:p>
            <a:endParaRPr lang="pt-BR" dirty="0"/>
          </a:p>
        </p:txBody>
      </p:sp>
      <p:sp>
        <p:nvSpPr>
          <p:cNvPr id="15" name="Elipse 5"/>
          <p:cNvSpPr/>
          <p:nvPr/>
        </p:nvSpPr>
        <p:spPr>
          <a:xfrm>
            <a:off x="11142720" y="6359400"/>
            <a:ext cx="570960" cy="42840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51" y="0"/>
            <a:ext cx="12218211" cy="6859588"/>
          </a:xfrm>
          <a:prstGeom prst="rect">
            <a:avLst/>
          </a:prstGeom>
        </p:spPr>
      </p:pic>
      <p:sp>
        <p:nvSpPr>
          <p:cNvPr id="14" name="PlaceHolder 1"/>
          <p:cNvSpPr txBox="1">
            <a:spLocks/>
          </p:cNvSpPr>
          <p:nvPr/>
        </p:nvSpPr>
        <p:spPr>
          <a:xfrm rot="21346946">
            <a:off x="282435" y="2568761"/>
            <a:ext cx="8058167" cy="3855620"/>
          </a:xfrm>
          <a:prstGeom prst="rect">
            <a:avLst/>
          </a:prstGeom>
          <a:noFill/>
          <a:ln w="0">
            <a:noFill/>
          </a:ln>
        </p:spPr>
        <p:txBody>
          <a:bodyPr vert="horz" lIns="101520" tIns="50760" rIns="101520" bIns="50760" rtlCol="0" anchor="ctr">
            <a:noAutofit/>
          </a:bodyPr>
          <a:lstStyle/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COUNTING</a:t>
            </a:r>
          </a:p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SPAN TASK</a:t>
            </a:r>
          </a:p>
        </p:txBody>
      </p:sp>
      <p:sp>
        <p:nvSpPr>
          <p:cNvPr id="8" name="PlaceHolder 1"/>
          <p:cNvSpPr txBox="1">
            <a:spLocks/>
          </p:cNvSpPr>
          <p:nvPr/>
        </p:nvSpPr>
        <p:spPr>
          <a:xfrm rot="21346946">
            <a:off x="338944" y="884362"/>
            <a:ext cx="7383179" cy="2349126"/>
          </a:xfrm>
          <a:prstGeom prst="rect">
            <a:avLst/>
          </a:prstGeom>
          <a:noFill/>
          <a:ln w="0">
            <a:noFill/>
          </a:ln>
        </p:spPr>
        <p:txBody>
          <a:bodyPr vert="horz" lIns="101520" tIns="50760" rIns="101520" bIns="50760" rtlCol="0" anchor="ctr">
            <a:normAutofit/>
          </a:bodyPr>
          <a:lstStyle/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rgbClr val="FFFF66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AULA 084</a:t>
            </a:r>
          </a:p>
        </p:txBody>
      </p:sp>
    </p:spTree>
    <p:extLst>
      <p:ext uri="{BB962C8B-B14F-4D97-AF65-F5344CB8AC3E}">
        <p14:creationId xmlns:p14="http://schemas.microsoft.com/office/powerpoint/2010/main" val="409638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9" name="Retângulo 9">
            <a:extLst>
              <a:ext uri="{FF2B5EF4-FFF2-40B4-BE49-F238E27FC236}">
                <a16:creationId xmlns:a16="http://schemas.microsoft.com/office/drawing/2014/main" id="{1342A9E3-06AB-4174-B720-E7B4C82BCF7C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Tarefas que mensuram memória de trabalho</a:t>
            </a:r>
            <a:endParaRPr lang="pt-B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9F13A7-3BF3-407E-BD1D-6314B6B7DD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66" y="4221882"/>
            <a:ext cx="3600000" cy="2025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42726C-FE68-4625-8631-A6ADCFA332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846" y="1295324"/>
            <a:ext cx="3600000" cy="2025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BAEEDE-5150-4660-97BE-682396DFA3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6" y="1358406"/>
            <a:ext cx="3600000" cy="2025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053B8F3-0692-432B-AFF5-8FFAD21D77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006" y="1382778"/>
            <a:ext cx="3600000" cy="2025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B3C6E75-A8CF-478A-813A-0273BDDEE5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846" y="4221882"/>
            <a:ext cx="3600000" cy="2025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63B19FC-165F-418E-8610-07B7CAC3EA1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414" y="4221882"/>
            <a:ext cx="3600000" cy="202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26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3</a:t>
            </a:fld>
            <a:endParaRPr lang="pt-BR"/>
          </a:p>
        </p:txBody>
      </p:sp>
      <p:sp>
        <p:nvSpPr>
          <p:cNvPr id="31" name="Espaço Reservado para Conteúdo 2">
            <a:extLst>
              <a:ext uri="{FF2B5EF4-FFF2-40B4-BE49-F238E27FC236}">
                <a16:creationId xmlns:a16="http://schemas.microsoft.com/office/drawing/2014/main" id="{6206A541-09BA-4878-9FEC-AFF4213B1331}"/>
              </a:ext>
            </a:extLst>
          </p:cNvPr>
          <p:cNvSpPr txBox="1">
            <a:spLocks/>
          </p:cNvSpPr>
          <p:nvPr/>
        </p:nvSpPr>
        <p:spPr>
          <a:xfrm>
            <a:off x="609522" y="1053530"/>
            <a:ext cx="11390340" cy="5304294"/>
          </a:xfrm>
          <a:prstGeom prst="rect">
            <a:avLst/>
          </a:prstGeom>
        </p:spPr>
        <p:txBody>
          <a:bodyPr>
            <a:normAutofit/>
          </a:bodyPr>
          <a:lstStyle>
            <a:lvl1pPr marL="380910" indent="-380910" algn="l" defTabSz="10157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5306" indent="-317425" algn="l" defTabSz="10157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9700" indent="-253940" algn="l" defTabSz="10157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77580" indent="-253940" algn="l" defTabSz="10157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5460" indent="-253940" algn="l" defTabSz="101576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93340" indent="-253940" algn="l" defTabSz="10157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01220" indent="-253940" algn="l" defTabSz="10157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100" indent="-253940" algn="l" defTabSz="10157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16980" indent="-253940" algn="l" defTabSz="10157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Tarefa de comprimento de contagem</a:t>
            </a:r>
          </a:p>
          <a:p>
            <a:pPr lvl="1"/>
            <a:endParaRPr lang="pt-BR" sz="2800" i="1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7315B44-15D1-4140-B4A6-3B7EB131A6D9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i="1" dirty="0" err="1"/>
              <a:t>Counting</a:t>
            </a:r>
            <a:r>
              <a:rPr lang="pt-BR" sz="4000" i="1" dirty="0"/>
              <a:t> </a:t>
            </a:r>
            <a:r>
              <a:rPr lang="pt-BR" sz="4000" i="1" dirty="0" err="1"/>
              <a:t>span</a:t>
            </a:r>
            <a:r>
              <a:rPr lang="pt-BR" sz="4000" i="1" dirty="0"/>
              <a:t> </a:t>
            </a:r>
            <a:r>
              <a:rPr lang="pt-BR" sz="4000" i="1" dirty="0" err="1"/>
              <a:t>task</a:t>
            </a:r>
            <a:r>
              <a:rPr lang="pt-BR" sz="4000" i="1" dirty="0"/>
              <a:t> </a:t>
            </a:r>
            <a:r>
              <a:rPr lang="pt-BR" sz="2800" dirty="0"/>
              <a:t>(Case et al., 1982; Engle, 2001)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21E13B50-A0AA-4797-A05B-144440B8F42D}"/>
              </a:ext>
            </a:extLst>
          </p:cNvPr>
          <p:cNvGrpSpPr/>
          <p:nvPr/>
        </p:nvGrpSpPr>
        <p:grpSpPr>
          <a:xfrm>
            <a:off x="1558702" y="1921974"/>
            <a:ext cx="9000000" cy="4388140"/>
            <a:chOff x="1558702" y="1921974"/>
            <a:chExt cx="9000000" cy="4388140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D60FC221-F4E5-4B69-84CA-55170D7102E3}"/>
                </a:ext>
              </a:extLst>
            </p:cNvPr>
            <p:cNvSpPr/>
            <p:nvPr/>
          </p:nvSpPr>
          <p:spPr>
            <a:xfrm>
              <a:off x="1558702" y="1921974"/>
              <a:ext cx="9000000" cy="438814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82674A56-7B64-489D-8FFE-28E7906E9F7C}"/>
                </a:ext>
              </a:extLst>
            </p:cNvPr>
            <p:cNvSpPr/>
            <p:nvPr/>
          </p:nvSpPr>
          <p:spPr>
            <a:xfrm>
              <a:off x="4115086" y="2673810"/>
              <a:ext cx="900000" cy="900000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DBB86CAD-8BF2-4C12-B23B-A6A5490850FB}"/>
                </a:ext>
              </a:extLst>
            </p:cNvPr>
            <p:cNvSpPr/>
            <p:nvPr/>
          </p:nvSpPr>
          <p:spPr>
            <a:xfrm>
              <a:off x="7591057" y="2223810"/>
              <a:ext cx="900000" cy="900000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49A36B4C-3F6A-42FE-9F6C-755B2AD7F00D}"/>
                </a:ext>
              </a:extLst>
            </p:cNvPr>
            <p:cNvSpPr/>
            <p:nvPr/>
          </p:nvSpPr>
          <p:spPr>
            <a:xfrm>
              <a:off x="7612628" y="4068064"/>
              <a:ext cx="900000" cy="900000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815266E7-6B6F-44A6-B8AF-592870432D50}"/>
                </a:ext>
              </a:extLst>
            </p:cNvPr>
            <p:cNvSpPr/>
            <p:nvPr/>
          </p:nvSpPr>
          <p:spPr>
            <a:xfrm>
              <a:off x="5854692" y="5149765"/>
              <a:ext cx="900000" cy="900000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946A227C-E9F9-4390-A951-FF675E78EAE4}"/>
                </a:ext>
              </a:extLst>
            </p:cNvPr>
            <p:cNvSpPr/>
            <p:nvPr/>
          </p:nvSpPr>
          <p:spPr>
            <a:xfrm>
              <a:off x="2882672" y="4249765"/>
              <a:ext cx="900000" cy="900000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AB5EE192-E7E3-4D75-B715-B637FCFDAC00}"/>
                </a:ext>
              </a:extLst>
            </p:cNvPr>
            <p:cNvSpPr/>
            <p:nvPr/>
          </p:nvSpPr>
          <p:spPr>
            <a:xfrm>
              <a:off x="2377101" y="2357255"/>
              <a:ext cx="900000" cy="900000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9BCBBB02-388D-499C-8C01-D41E44BABB1C}"/>
                </a:ext>
              </a:extLst>
            </p:cNvPr>
            <p:cNvSpPr/>
            <p:nvPr/>
          </p:nvSpPr>
          <p:spPr>
            <a:xfrm>
              <a:off x="9228817" y="2805677"/>
              <a:ext cx="900000" cy="900000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2D7C7C0D-2B50-4A66-BC29-77985730BCAB}"/>
                </a:ext>
              </a:extLst>
            </p:cNvPr>
            <p:cNvSpPr/>
            <p:nvPr/>
          </p:nvSpPr>
          <p:spPr>
            <a:xfrm>
              <a:off x="9011808" y="4485074"/>
              <a:ext cx="900000" cy="900000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252170FA-2F61-4BDB-9DE1-76955944CD49}"/>
                </a:ext>
              </a:extLst>
            </p:cNvPr>
            <p:cNvSpPr/>
            <p:nvPr/>
          </p:nvSpPr>
          <p:spPr>
            <a:xfrm>
              <a:off x="4073852" y="5142719"/>
              <a:ext cx="900000" cy="900000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Retângulo 51">
              <a:extLst>
                <a:ext uri="{FF2B5EF4-FFF2-40B4-BE49-F238E27FC236}">
                  <a16:creationId xmlns:a16="http://schemas.microsoft.com/office/drawing/2014/main" id="{16C07853-60C6-4653-BBD5-5F1D6E8D817C}"/>
                </a:ext>
              </a:extLst>
            </p:cNvPr>
            <p:cNvSpPr/>
            <p:nvPr/>
          </p:nvSpPr>
          <p:spPr>
            <a:xfrm>
              <a:off x="5523412" y="2355677"/>
              <a:ext cx="900000" cy="900000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6708FE0B-BF27-4FD4-A8C9-DEFA051351A1}"/>
                </a:ext>
              </a:extLst>
            </p:cNvPr>
            <p:cNvSpPr/>
            <p:nvPr/>
          </p:nvSpPr>
          <p:spPr>
            <a:xfrm>
              <a:off x="6588077" y="3302721"/>
              <a:ext cx="900000" cy="900000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Retângulo 53">
              <a:extLst>
                <a:ext uri="{FF2B5EF4-FFF2-40B4-BE49-F238E27FC236}">
                  <a16:creationId xmlns:a16="http://schemas.microsoft.com/office/drawing/2014/main" id="{9AFF2086-3909-4804-89D5-4A03B97AE455}"/>
                </a:ext>
              </a:extLst>
            </p:cNvPr>
            <p:cNvSpPr/>
            <p:nvPr/>
          </p:nvSpPr>
          <p:spPr>
            <a:xfrm>
              <a:off x="4954692" y="4029528"/>
              <a:ext cx="900000" cy="900000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5" name="Retângulo 54">
              <a:extLst>
                <a:ext uri="{FF2B5EF4-FFF2-40B4-BE49-F238E27FC236}">
                  <a16:creationId xmlns:a16="http://schemas.microsoft.com/office/drawing/2014/main" id="{D0FBB339-173B-483F-9699-010234CF921E}"/>
                </a:ext>
              </a:extLst>
            </p:cNvPr>
            <p:cNvSpPr/>
            <p:nvPr/>
          </p:nvSpPr>
          <p:spPr>
            <a:xfrm>
              <a:off x="1800885" y="5190703"/>
              <a:ext cx="900000" cy="900000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617666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31" name="Espaço Reservado para Conteúdo 2">
            <a:extLst>
              <a:ext uri="{FF2B5EF4-FFF2-40B4-BE49-F238E27FC236}">
                <a16:creationId xmlns:a16="http://schemas.microsoft.com/office/drawing/2014/main" id="{6206A541-09BA-4878-9FEC-AFF4213B1331}"/>
              </a:ext>
            </a:extLst>
          </p:cNvPr>
          <p:cNvSpPr txBox="1">
            <a:spLocks/>
          </p:cNvSpPr>
          <p:nvPr/>
        </p:nvSpPr>
        <p:spPr>
          <a:xfrm>
            <a:off x="609522" y="1053530"/>
            <a:ext cx="11390340" cy="5304294"/>
          </a:xfrm>
          <a:prstGeom prst="rect">
            <a:avLst/>
          </a:prstGeom>
        </p:spPr>
        <p:txBody>
          <a:bodyPr>
            <a:normAutofit/>
          </a:bodyPr>
          <a:lstStyle>
            <a:lvl1pPr marL="380910" indent="-380910" algn="l" defTabSz="10157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5306" indent="-317425" algn="l" defTabSz="10157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9700" indent="-253940" algn="l" defTabSz="10157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77580" indent="-253940" algn="l" defTabSz="10157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5460" indent="-253940" algn="l" defTabSz="101576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93340" indent="-253940" algn="l" defTabSz="10157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01220" indent="-253940" algn="l" defTabSz="10157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100" indent="-253940" algn="l" defTabSz="10157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16980" indent="-253940" algn="l" defTabSz="10157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Tarefa de comprimento de contagem</a:t>
            </a:r>
          </a:p>
          <a:p>
            <a:r>
              <a:rPr lang="pt-BR" sz="3200" dirty="0"/>
              <a:t>Estímulos</a:t>
            </a:r>
          </a:p>
          <a:p>
            <a:pPr lvl="1"/>
            <a:r>
              <a:rPr lang="pt-BR" sz="2700" dirty="0">
                <a:solidFill>
                  <a:srgbClr val="002060"/>
                </a:solidFill>
              </a:rPr>
              <a:t>3–9 círculos azul-escuros ●</a:t>
            </a:r>
            <a:endParaRPr lang="pt-BR" sz="4000" dirty="0">
              <a:solidFill>
                <a:srgbClr val="002060"/>
              </a:solidFill>
            </a:endParaRPr>
          </a:p>
          <a:p>
            <a:pPr lvl="1"/>
            <a:r>
              <a:rPr lang="pt-BR" sz="2700" dirty="0">
                <a:solidFill>
                  <a:srgbClr val="002060"/>
                </a:solidFill>
              </a:rPr>
              <a:t>1–9 quadrados azul-escuros ⯀</a:t>
            </a:r>
          </a:p>
          <a:p>
            <a:pPr lvl="1"/>
            <a:r>
              <a:rPr lang="pt-BR" sz="2700" dirty="0">
                <a:solidFill>
                  <a:srgbClr val="00B0F0"/>
                </a:solidFill>
              </a:rPr>
              <a:t>1–5 quadrados azul-claros ⯀</a:t>
            </a:r>
          </a:p>
          <a:p>
            <a:pPr lvl="1"/>
            <a:r>
              <a:rPr lang="pt-BR" sz="2700" dirty="0"/>
              <a:t>5–23 formas geométricas por tela</a:t>
            </a:r>
          </a:p>
          <a:p>
            <a:r>
              <a:rPr lang="pt-BR" sz="3200" dirty="0"/>
              <a:t>Tentativas</a:t>
            </a:r>
          </a:p>
          <a:p>
            <a:pPr lvl="1"/>
            <a:r>
              <a:rPr lang="pt-BR" sz="2700" dirty="0"/>
              <a:t>Cada tentativa possui entre 2 e 8 telas (</a:t>
            </a:r>
            <a:r>
              <a:rPr lang="pt-BR" sz="2700" i="1" dirty="0" err="1"/>
              <a:t>span</a:t>
            </a:r>
            <a:r>
              <a:rPr lang="pt-BR" sz="2700" dirty="0"/>
              <a:t>/carga de memória)</a:t>
            </a:r>
          </a:p>
          <a:p>
            <a:pPr lvl="1"/>
            <a:r>
              <a:rPr lang="pt-BR" sz="2700" dirty="0"/>
              <a:t>Três tentativas por comprimento</a:t>
            </a:r>
          </a:p>
          <a:p>
            <a:pPr lvl="1"/>
            <a:r>
              <a:rPr lang="pt-BR" sz="2700" dirty="0"/>
              <a:t>Total: 21 tentativas</a:t>
            </a:r>
          </a:p>
          <a:p>
            <a:pPr marL="507881" lvl="1" indent="0">
              <a:buNone/>
            </a:pPr>
            <a:endParaRPr lang="pt-BR" sz="2700" dirty="0"/>
          </a:p>
          <a:p>
            <a:pPr lvl="1"/>
            <a:endParaRPr lang="pt-BR" sz="2800" i="1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7315B44-15D1-4140-B4A6-3B7EB131A6D9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i="1" dirty="0" err="1"/>
              <a:t>Counting</a:t>
            </a:r>
            <a:r>
              <a:rPr lang="pt-BR" sz="4000" i="1" dirty="0"/>
              <a:t> </a:t>
            </a:r>
            <a:r>
              <a:rPr lang="pt-BR" sz="4000" i="1" dirty="0" err="1"/>
              <a:t>span</a:t>
            </a:r>
            <a:r>
              <a:rPr lang="pt-BR" sz="4000" i="1" dirty="0"/>
              <a:t> </a:t>
            </a:r>
            <a:r>
              <a:rPr lang="pt-BR" sz="4000" i="1" dirty="0" err="1"/>
              <a:t>task</a:t>
            </a:r>
            <a:r>
              <a:rPr lang="pt-BR" sz="4000" i="1" dirty="0"/>
              <a:t> </a:t>
            </a:r>
            <a:r>
              <a:rPr lang="pt-BR" sz="2800" dirty="0"/>
              <a:t>(Case et al., 1982; Engle, 2001)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4478E0D-047A-4699-BC7D-7B91702C6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173" y="1773610"/>
            <a:ext cx="5653451" cy="281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30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Referências</a:t>
            </a:r>
            <a:endParaRPr lang="pt-BR" sz="2500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D3E72C1D-5CC6-41AD-A847-9BB029A1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582" y="1221844"/>
            <a:ext cx="11318332" cy="5304294"/>
          </a:xfrm>
        </p:spPr>
        <p:txBody>
          <a:bodyPr>
            <a:normAutofit/>
          </a:bodyPr>
          <a:lstStyle/>
          <a:p>
            <a:pPr marL="711200" indent="-711200">
              <a:buNone/>
            </a:pPr>
            <a:r>
              <a:rPr lang="en-US" dirty="0"/>
              <a:t>Case, R., Kurland, D. M., &amp; Goldberg, J. (1982). Operational efficiency and the growth of short-term memory span. </a:t>
            </a:r>
            <a:r>
              <a:rPr lang="en-US" i="1" dirty="0"/>
              <a:t>Journal of Experimental Child Psychology</a:t>
            </a:r>
            <a:r>
              <a:rPr lang="en-US" dirty="0"/>
              <a:t>, </a:t>
            </a:r>
            <a:r>
              <a:rPr lang="en-US" i="1" dirty="0"/>
              <a:t>33</a:t>
            </a:r>
            <a:r>
              <a:rPr lang="en-US" dirty="0"/>
              <a:t>(3), 386–404. https://doi.org/10.1016/0022-0965(82)90054-6</a:t>
            </a:r>
          </a:p>
          <a:p>
            <a:pPr marL="711200" indent="-711200">
              <a:buNone/>
            </a:pPr>
            <a:r>
              <a:rPr lang="en-US" dirty="0"/>
              <a:t>Engle, R. W. (2001). What is working memory capacity? In H. L. Roediger III &amp; J. S. </a:t>
            </a:r>
            <a:r>
              <a:rPr lang="en-US" dirty="0" err="1"/>
              <a:t>Nairne</a:t>
            </a:r>
            <a:r>
              <a:rPr lang="en-US" dirty="0"/>
              <a:t> (Eds.), </a:t>
            </a:r>
            <a:r>
              <a:rPr lang="en-US" i="1" dirty="0"/>
              <a:t>The nature of remembering: Essays in honor of Robert G. Crowder </a:t>
            </a:r>
            <a:r>
              <a:rPr lang="en-US" dirty="0"/>
              <a:t>(pp. </a:t>
            </a:r>
            <a:r>
              <a:rPr lang="en-US"/>
              <a:t>297–314</a:t>
            </a:r>
            <a:r>
              <a:rPr lang="en-US" dirty="0"/>
              <a:t>). American Psychological Association.</a:t>
            </a:r>
          </a:p>
        </p:txBody>
      </p:sp>
    </p:spTree>
    <p:extLst>
      <p:ext uri="{BB962C8B-B14F-4D97-AF65-F5344CB8AC3E}">
        <p14:creationId xmlns:p14="http://schemas.microsoft.com/office/powerpoint/2010/main" val="6420791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49212</TotalTime>
  <Words>199</Words>
  <Application>Microsoft Office PowerPoint</Application>
  <PresentationFormat>Personalizar</PresentationFormat>
  <Paragraphs>29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Bangers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Lima</dc:creator>
  <cp:lastModifiedBy>Marcos Lima</cp:lastModifiedBy>
  <cp:revision>1132</cp:revision>
  <dcterms:created xsi:type="dcterms:W3CDTF">2016-11-14T13:56:39Z</dcterms:created>
  <dcterms:modified xsi:type="dcterms:W3CDTF">2026-10-16T00:41:15Z</dcterms:modified>
</cp:coreProperties>
</file>