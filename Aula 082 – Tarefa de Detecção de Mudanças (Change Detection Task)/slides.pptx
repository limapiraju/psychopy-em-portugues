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52" r:id="rId2"/>
    <p:sldId id="1095" r:id="rId3"/>
    <p:sldId id="1096" r:id="rId4"/>
    <p:sldId id="1090" r:id="rId5"/>
    <p:sldId id="656" r:id="rId6"/>
    <p:sldId id="642" r:id="rId7"/>
  </p:sldIdLst>
  <p:sldSz cx="12190413" cy="6859588"/>
  <p:notesSz cx="6858000" cy="9144000"/>
  <p:defaultTextStyle>
    <a:defPPr>
      <a:defRPr lang="pt-BR"/>
    </a:defPPr>
    <a:lvl1pPr marL="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B7"/>
    <a:srgbClr val="FF3300"/>
    <a:srgbClr val="2CAE16"/>
    <a:srgbClr val="008000"/>
    <a:srgbClr val="FF00FF"/>
    <a:srgbClr val="660066"/>
    <a:srgbClr val="FF3399"/>
    <a:srgbClr val="FFC081"/>
    <a:srgbClr val="FFCD9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9" autoAdjust="0"/>
    <p:restoredTop sz="92137" autoAdjust="0"/>
  </p:normalViewPr>
  <p:slideViewPr>
    <p:cSldViewPr>
      <p:cViewPr varScale="1">
        <p:scale>
          <a:sx n="57" d="100"/>
          <a:sy n="57" d="100"/>
        </p:scale>
        <p:origin x="1170" y="78"/>
      </p:cViewPr>
      <p:guideLst>
        <p:guide orient="horz" pos="2161"/>
        <p:guide pos="384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E1EB-9B3A-4F88-8981-57CAE7D022DC}" type="datetimeFigureOut">
              <a:rPr lang="pt-BR" smtClean="0"/>
              <a:pPr/>
              <a:t>02/10/2026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2B78-184E-410B-8EB3-A78D003ACCE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32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A2CC-C870-4222-8082-713A11CF2FEE}" type="datetimeFigureOut">
              <a:rPr lang="pt-BR" smtClean="0"/>
              <a:pPr/>
              <a:t>02/10/2026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EBA5-ED71-45A1-8B2B-DE2576D070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07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73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18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425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961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194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9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281" y="2130922"/>
            <a:ext cx="10361851" cy="147036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C2E5-5F2E-41F9-A0FB-F6B6A2395976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D261-2523-45FF-8ED1-0BCB69162581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2959" y="2907388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078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7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36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315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393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472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5515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630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026C-6155-4932-A819-C07131495285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D34F-8B2C-45E7-98CE-F7ED66FA1B80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535471"/>
            <a:ext cx="5386216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2565" y="1535471"/>
            <a:ext cx="5388332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2565" y="2175380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FB13-4A75-42B7-90FC-4FF930268F62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C7D3-B9EE-4353-80CB-4E628B094EA8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0A78-9207-4F09-A348-718AD96E4D93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25" y="273115"/>
            <a:ext cx="4010562" cy="11623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525" y="1435437"/>
            <a:ext cx="4010562" cy="46921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F061-2354-4E7B-9294-11A163B323B2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07879" indent="0">
              <a:buNone/>
              <a:defRPr sz="3100"/>
            </a:lvl2pPr>
            <a:lvl3pPr marL="1015760" indent="0">
              <a:buNone/>
              <a:defRPr sz="2700"/>
            </a:lvl3pPr>
            <a:lvl4pPr marL="1523639" indent="0">
              <a:buNone/>
              <a:defRPr sz="2300"/>
            </a:lvl4pPr>
            <a:lvl5pPr marL="2031520" indent="0">
              <a:buNone/>
              <a:defRPr sz="2300"/>
            </a:lvl5pPr>
            <a:lvl6pPr marL="2539399" indent="0">
              <a:buNone/>
              <a:defRPr sz="2300"/>
            </a:lvl6pPr>
            <a:lvl7pPr marL="3047280" indent="0">
              <a:buNone/>
              <a:defRPr sz="2300"/>
            </a:lvl7pPr>
            <a:lvl8pPr marL="3555159" indent="0">
              <a:buNone/>
              <a:defRPr sz="2300"/>
            </a:lvl8pPr>
            <a:lvl9pPr marL="4063040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7B3E-F030-42B0-83BA-8AE4FBEC2267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F0EE-6503-4E8F-A013-CFD41AFB6EA6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8051" y="274705"/>
            <a:ext cx="2742843" cy="585288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521" y="274705"/>
            <a:ext cx="8025355" cy="585288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AD86-4BE5-4079-9D68-EB0FF3EB9B8E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01576" tIns="50788" rIns="101576" bIns="50788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</p:spPr>
        <p:txBody>
          <a:bodyPr vert="horz" lIns="101576" tIns="50788" rIns="101576" bIns="50788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A825-296A-4964-85BE-4EAB02630B2E}" type="datetime1">
              <a:rPr lang="pt-BR" smtClean="0"/>
              <a:pPr/>
              <a:t>02/10/2026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059" y="6357824"/>
            <a:ext cx="3860297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1576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10" indent="-380910" algn="l" defTabSz="101576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06" indent="-317425" algn="l" defTabSz="1015760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97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7580" indent="-253940" algn="l" defTabSz="101576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460" indent="-253940" algn="l" defTabSz="101576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34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22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1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1698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7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76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63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52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39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28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15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04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" y="1"/>
            <a:ext cx="205201" cy="41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76" tIns="50788" rIns="101576" bIns="50788" anchor="ctr">
            <a:prstTxWarp prst="textNoShape">
              <a:avLst/>
            </a:prstTxWarp>
            <a:spAutoFit/>
          </a:bodyPr>
          <a:lstStyle/>
          <a:p>
            <a:endParaRPr lang="pt-BR" dirty="0"/>
          </a:p>
        </p:txBody>
      </p:sp>
      <p:sp>
        <p:nvSpPr>
          <p:cNvPr id="15" name="Elipse 5"/>
          <p:cNvSpPr/>
          <p:nvPr/>
        </p:nvSpPr>
        <p:spPr>
          <a:xfrm>
            <a:off x="11142720" y="6359400"/>
            <a:ext cx="570960" cy="42840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1" y="0"/>
            <a:ext cx="12218211" cy="6859588"/>
          </a:xfrm>
          <a:prstGeom prst="rect">
            <a:avLst/>
          </a:prstGeom>
        </p:spPr>
      </p:pic>
      <p:sp>
        <p:nvSpPr>
          <p:cNvPr id="14" name="PlaceHolder 1"/>
          <p:cNvSpPr txBox="1">
            <a:spLocks/>
          </p:cNvSpPr>
          <p:nvPr/>
        </p:nvSpPr>
        <p:spPr>
          <a:xfrm rot="21346946">
            <a:off x="249410" y="2091391"/>
            <a:ext cx="8058167" cy="3855620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TAREFA DE DETECÇÃO DE MUDANÇAS</a:t>
            </a: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 rot="21346946">
            <a:off x="338944" y="884362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AULA 082</a:t>
            </a: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4B073D56-F7CC-4F17-A470-C2ED89EDABB1}"/>
              </a:ext>
            </a:extLst>
          </p:cNvPr>
          <p:cNvSpPr txBox="1">
            <a:spLocks/>
          </p:cNvSpPr>
          <p:nvPr/>
        </p:nvSpPr>
        <p:spPr>
          <a:xfrm rot="21346946">
            <a:off x="867889" y="4562204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MEMÓRIA DE CURTO PRAZO</a:t>
            </a:r>
          </a:p>
        </p:txBody>
      </p:sp>
    </p:spTree>
    <p:extLst>
      <p:ext uri="{BB962C8B-B14F-4D97-AF65-F5344CB8AC3E}">
        <p14:creationId xmlns:p14="http://schemas.microsoft.com/office/powerpoint/2010/main" val="40963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060F3A4-76CE-4A04-AAEF-5BC75BBD4AB5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detecção de mudanças </a:t>
            </a:r>
            <a:r>
              <a:rPr lang="pt-BR" sz="2800" dirty="0"/>
              <a:t>(Phillips, 1974)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2564CD4-67B4-489A-8368-BC3FB8BD0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226" y="2348000"/>
            <a:ext cx="8487960" cy="34580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58B8530-885C-4D65-95CD-430AA5386AFD}"/>
                  </a:ext>
                </a:extLst>
              </p:cNvPr>
              <p:cNvSpPr txBox="1"/>
              <p:nvPr/>
            </p:nvSpPr>
            <p:spPr>
              <a:xfrm>
                <a:off x="1774726" y="1557586"/>
                <a:ext cx="19442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i="1" dirty="0" smtClean="0">
                          <a:latin typeface="Cambria Math" panose="02040503050406030204" pitchFamily="18" charset="0"/>
                        </a:rPr>
                        <m:t>4×4</m:t>
                      </m:r>
                    </m:oMath>
                  </m:oMathPara>
                </a14:m>
                <a:endParaRPr lang="pt-BR" sz="40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58B8530-885C-4D65-95CD-430AA5386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726" y="1557586"/>
                <a:ext cx="1944216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C0F5442-14CA-4CB5-A47E-8CF871D60AD1}"/>
                  </a:ext>
                </a:extLst>
              </p:cNvPr>
              <p:cNvSpPr txBox="1"/>
              <p:nvPr/>
            </p:nvSpPr>
            <p:spPr>
              <a:xfrm>
                <a:off x="4295006" y="1557586"/>
                <a:ext cx="19442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pt-BR" sz="4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pt-BR" sz="4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40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C0F5442-14CA-4CB5-A47E-8CF871D60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006" y="1557586"/>
                <a:ext cx="1944216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215F899-29BF-474F-874F-39CB8F78AD59}"/>
                  </a:ext>
                </a:extLst>
              </p:cNvPr>
              <p:cNvSpPr txBox="1"/>
              <p:nvPr/>
            </p:nvSpPr>
            <p:spPr>
              <a:xfrm>
                <a:off x="7679382" y="1557586"/>
                <a:ext cx="19442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pt-BR" sz="4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pt-BR" sz="4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pt-BR" sz="40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215F899-29BF-474F-874F-39CB8F78A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382" y="1557586"/>
                <a:ext cx="194421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23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060F3A4-76CE-4A04-AAEF-5BC75BBD4AB5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detecção de mudanças </a:t>
            </a:r>
            <a:r>
              <a:rPr lang="pt-BR" sz="2800" dirty="0"/>
              <a:t>(Phillips, 1974)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46A1675D-A067-40C7-8DCA-E0EABB0FADC7}"/>
              </a:ext>
            </a:extLst>
          </p:cNvPr>
          <p:cNvCxnSpPr>
            <a:cxnSpLocks/>
          </p:cNvCxnSpPr>
          <p:nvPr/>
        </p:nvCxnSpPr>
        <p:spPr>
          <a:xfrm>
            <a:off x="190550" y="5902641"/>
            <a:ext cx="118093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2EF55DF0-AFF9-4603-A767-90CDEBDCD7D0}"/>
              </a:ext>
            </a:extLst>
          </p:cNvPr>
          <p:cNvSpPr/>
          <p:nvPr/>
        </p:nvSpPr>
        <p:spPr>
          <a:xfrm>
            <a:off x="4295006" y="6143881"/>
            <a:ext cx="3600000" cy="67028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EB3D2AE-E113-423C-ACB2-54C2B5790AEB}"/>
              </a:ext>
            </a:extLst>
          </p:cNvPr>
          <p:cNvGrpSpPr/>
          <p:nvPr/>
        </p:nvGrpSpPr>
        <p:grpSpPr>
          <a:xfrm>
            <a:off x="4295006" y="2925738"/>
            <a:ext cx="3600400" cy="2902537"/>
            <a:chOff x="4295006" y="2925738"/>
            <a:chExt cx="3600400" cy="2902537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02692B4-BF90-47DE-AA33-7FAD45D6F4C3}"/>
                </a:ext>
              </a:extLst>
            </p:cNvPr>
            <p:cNvSpPr/>
            <p:nvPr/>
          </p:nvSpPr>
          <p:spPr>
            <a:xfrm>
              <a:off x="4295006" y="2925738"/>
              <a:ext cx="3600000" cy="21600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4DBFAEE8-DAB7-41B6-B47F-CFCE1E283C9F}"/>
                </a:ext>
              </a:extLst>
            </p:cNvPr>
            <p:cNvSpPr/>
            <p:nvPr/>
          </p:nvSpPr>
          <p:spPr>
            <a:xfrm>
              <a:off x="4295406" y="5157986"/>
              <a:ext cx="3600000" cy="670289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5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ISI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F0E803F-2B60-4F79-86B8-48D29031A6F6}"/>
              </a:ext>
            </a:extLst>
          </p:cNvPr>
          <p:cNvGrpSpPr/>
          <p:nvPr/>
        </p:nvGrpSpPr>
        <p:grpSpPr>
          <a:xfrm>
            <a:off x="334566" y="2925738"/>
            <a:ext cx="3600000" cy="2902537"/>
            <a:chOff x="334566" y="2925738"/>
            <a:chExt cx="3600000" cy="2902537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60FC221-F4E5-4B69-84CA-55170D7102E3}"/>
                </a:ext>
              </a:extLst>
            </p:cNvPr>
            <p:cNvSpPr/>
            <p:nvPr/>
          </p:nvSpPr>
          <p:spPr>
            <a:xfrm>
              <a:off x="334566" y="2925738"/>
              <a:ext cx="3600000" cy="21600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32463FF4-E7F2-4136-A42A-E85363F9AF6F}"/>
                </a:ext>
              </a:extLst>
            </p:cNvPr>
            <p:cNvSpPr/>
            <p:nvPr/>
          </p:nvSpPr>
          <p:spPr>
            <a:xfrm>
              <a:off x="334566" y="5157986"/>
              <a:ext cx="3600000" cy="670289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5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 s</a:t>
              </a:r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7A80616-3DB2-428B-8833-813B8484A7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822"/>
            <a:stretch/>
          </p:blipFill>
          <p:spPr>
            <a:xfrm>
              <a:off x="1198663" y="3098500"/>
              <a:ext cx="1944216" cy="1829055"/>
            </a:xfrm>
            <a:prstGeom prst="rect">
              <a:avLst/>
            </a:prstGeom>
          </p:spPr>
        </p:pic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00A9A33A-DDF4-42B6-A803-B5F323E340A3}"/>
              </a:ext>
            </a:extLst>
          </p:cNvPr>
          <p:cNvGrpSpPr/>
          <p:nvPr/>
        </p:nvGrpSpPr>
        <p:grpSpPr>
          <a:xfrm>
            <a:off x="8255846" y="2925738"/>
            <a:ext cx="3600000" cy="2902537"/>
            <a:chOff x="8255846" y="2925738"/>
            <a:chExt cx="3600000" cy="2902537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6F30793E-EBEA-4FD4-AEA8-5DCC7FC552DC}"/>
                </a:ext>
              </a:extLst>
            </p:cNvPr>
            <p:cNvSpPr/>
            <p:nvPr/>
          </p:nvSpPr>
          <p:spPr>
            <a:xfrm>
              <a:off x="8255846" y="2925738"/>
              <a:ext cx="3600000" cy="21600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561519CF-798C-48CB-A404-9FC91B4E2ACF}"/>
                </a:ext>
              </a:extLst>
            </p:cNvPr>
            <p:cNvSpPr/>
            <p:nvPr/>
          </p:nvSpPr>
          <p:spPr>
            <a:xfrm>
              <a:off x="8255846" y="5157986"/>
              <a:ext cx="3600000" cy="670289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5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Até a resposta</a:t>
              </a:r>
            </a:p>
          </p:txBody>
        </p:sp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838605F3-E09F-4D80-A606-1C4B8A7C3B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2099"/>
            <a:stretch/>
          </p:blipFill>
          <p:spPr>
            <a:xfrm>
              <a:off x="9191550" y="3098500"/>
              <a:ext cx="1893710" cy="182905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spaço Reservado para Conteúdo 2">
                <a:extLst>
                  <a:ext uri="{FF2B5EF4-FFF2-40B4-BE49-F238E27FC236}">
                    <a16:creationId xmlns:a16="http://schemas.microsoft.com/office/drawing/2014/main" id="{6206A541-09BA-4878-9FEC-AFF4213B13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22" y="1053530"/>
                <a:ext cx="11390340" cy="530429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80910" indent="-38091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25306" indent="-317425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3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6970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77758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28546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79334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30122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80910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316980" indent="-253940" algn="l" defTabSz="101576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3200" dirty="0"/>
                  <a:t>Variáveis independentes</a:t>
                </a:r>
              </a:p>
              <a:p>
                <a:pPr lvl="1"/>
                <a:r>
                  <a:rPr lang="pt-BR" sz="2700" dirty="0">
                    <a:solidFill>
                      <a:srgbClr val="002060"/>
                    </a:solidFill>
                  </a:rPr>
                  <a:t>Complexidade da matriz: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pt-BR" sz="2700" dirty="0"/>
                  <a:t>,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6×6</m:t>
                    </m:r>
                  </m:oMath>
                </a14:m>
                <a:r>
                  <a:rPr lang="pt-BR" sz="2700" dirty="0"/>
                  <a:t>,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8×8</m:t>
                    </m:r>
                  </m:oMath>
                </a14:m>
                <a:endParaRPr lang="pt-BR" sz="2700" dirty="0"/>
              </a:p>
              <a:p>
                <a:pPr lvl="1"/>
                <a:r>
                  <a:rPr lang="pt-BR" sz="2700" dirty="0">
                    <a:solidFill>
                      <a:srgbClr val="002060"/>
                    </a:solidFill>
                  </a:rPr>
                  <a:t>Intervalo entre estímulos (ISI):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0,02</m:t>
                    </m:r>
                  </m:oMath>
                </a14:m>
                <a:r>
                  <a:rPr lang="pt-BR" sz="2700" dirty="0"/>
                  <a:t>,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700" dirty="0"/>
                  <a:t>,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pt-BR" sz="2700" dirty="0"/>
                  <a:t>, </a:t>
                </a:r>
                <a14:m>
                  <m:oMath xmlns:m="http://schemas.openxmlformats.org/officeDocument/2006/math">
                    <m:r>
                      <a:rPr lang="pt-BR" sz="27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pt-BR" sz="2700" dirty="0"/>
                  <a:t> s</a:t>
                </a:r>
              </a:p>
              <a:p>
                <a:pPr lvl="1"/>
                <a:endParaRPr lang="pt-BR" sz="2800" i="1" dirty="0"/>
              </a:p>
            </p:txBody>
          </p:sp>
        </mc:Choice>
        <mc:Fallback xmlns="">
          <p:sp>
            <p:nvSpPr>
              <p:cNvPr id="31" name="Espaço Reservado para Conteúdo 2">
                <a:extLst>
                  <a:ext uri="{FF2B5EF4-FFF2-40B4-BE49-F238E27FC236}">
                    <a16:creationId xmlns:a16="http://schemas.microsoft.com/office/drawing/2014/main" id="{6206A541-09BA-4878-9FEC-AFF4213B1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2" y="1053530"/>
                <a:ext cx="11390340" cy="5304294"/>
              </a:xfrm>
              <a:prstGeom prst="rect">
                <a:avLst/>
              </a:prstGeom>
              <a:blipFill>
                <a:blip r:embed="rId4"/>
                <a:stretch>
                  <a:fillRect l="-1231" t="-1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tângulo 32">
            <a:extLst>
              <a:ext uri="{FF2B5EF4-FFF2-40B4-BE49-F238E27FC236}">
                <a16:creationId xmlns:a16="http://schemas.microsoft.com/office/drawing/2014/main" id="{C0D60B7A-79E8-449E-9F0E-11C313D445A3}"/>
              </a:ext>
            </a:extLst>
          </p:cNvPr>
          <p:cNvSpPr/>
          <p:nvPr/>
        </p:nvSpPr>
        <p:spPr>
          <a:xfrm>
            <a:off x="8255446" y="2277666"/>
            <a:ext cx="3600000" cy="670289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“Igual” ou “diferente”?</a:t>
            </a:r>
          </a:p>
        </p:txBody>
      </p:sp>
    </p:spTree>
    <p:extLst>
      <p:ext uri="{BB962C8B-B14F-4D97-AF65-F5344CB8AC3E}">
        <p14:creationId xmlns:p14="http://schemas.microsoft.com/office/powerpoint/2010/main" val="261766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060F3A4-76CE-4A04-AAEF-5BC75BBD4AB5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detecção de mudanças </a:t>
            </a:r>
            <a:r>
              <a:rPr lang="pt-BR" sz="2800" dirty="0"/>
              <a:t>(Phillips, 1974)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B36B06C-CCC5-45B9-A40F-FBE760D36B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278" y="1278242"/>
            <a:ext cx="7229856" cy="539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2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9" name="Retângulo 9">
            <a:extLst>
              <a:ext uri="{FF2B5EF4-FFF2-40B4-BE49-F238E27FC236}">
                <a16:creationId xmlns:a16="http://schemas.microsoft.com/office/drawing/2014/main" id="{1342A9E3-06AB-4174-B720-E7B4C82BCF7C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Tarefa de detecção mudanças: meu desempenho</a:t>
            </a:r>
            <a:endParaRPr lang="pt-BR" sz="28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7C9627D-365A-42B7-B9BC-2CD7C835CD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278" y="1278242"/>
            <a:ext cx="7229856" cy="539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8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Referência</a:t>
            </a:r>
            <a:endParaRPr lang="pt-BR" sz="25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221844"/>
            <a:ext cx="11318332" cy="5304294"/>
          </a:xfrm>
        </p:spPr>
        <p:txBody>
          <a:bodyPr>
            <a:normAutofit/>
          </a:bodyPr>
          <a:lstStyle/>
          <a:p>
            <a:pPr marL="711200" indent="-711200">
              <a:buNone/>
            </a:pPr>
            <a:r>
              <a:rPr lang="en-US" dirty="0"/>
              <a:t>Phillips, W. A. (1974). On the distinction between sensory storage and short-term visual memory. </a:t>
            </a:r>
            <a:r>
              <a:rPr lang="en-US" i="1" dirty="0"/>
              <a:t>Perception &amp; Psychophysics</a:t>
            </a:r>
            <a:r>
              <a:rPr lang="en-US" dirty="0"/>
              <a:t>, </a:t>
            </a:r>
            <a:r>
              <a:rPr lang="en-US" i="1" dirty="0"/>
              <a:t>16</a:t>
            </a:r>
            <a:r>
              <a:rPr lang="en-US" dirty="0"/>
              <a:t>(2), 283–290. https://doi.org/10.3758/BF03203943</a:t>
            </a:r>
          </a:p>
        </p:txBody>
      </p:sp>
    </p:spTree>
    <p:extLst>
      <p:ext uri="{BB962C8B-B14F-4D97-AF65-F5344CB8AC3E}">
        <p14:creationId xmlns:p14="http://schemas.microsoft.com/office/powerpoint/2010/main" val="642079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49005</TotalTime>
  <Words>139</Words>
  <Application>Microsoft Office PowerPoint</Application>
  <PresentationFormat>Personalizar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Bangers</vt:lpstr>
      <vt:lpstr>Calibri</vt:lpstr>
      <vt:lpstr>Cambria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Lima</dc:creator>
  <cp:lastModifiedBy>Marcos Lima</cp:lastModifiedBy>
  <cp:revision>1118</cp:revision>
  <dcterms:created xsi:type="dcterms:W3CDTF">2016-11-14T13:56:39Z</dcterms:created>
  <dcterms:modified xsi:type="dcterms:W3CDTF">2026-10-02T18:58:40Z</dcterms:modified>
</cp:coreProperties>
</file>